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88825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70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10908C2-22E4-47E8-A5B1-A9A7E3A6C6A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589207-787E-418A-9188-7209663C719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ECBE8CC-D2F5-4F72-9BFB-26AFEC93BBC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5D3451C-0D4D-4824-976A-A227E69DF2E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EFB05B43-110E-4D45-A551-ED14BDE5535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A4D3B068-BEFD-4F26-A5FA-22E61E79948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DCE5BC0E-78F7-407A-A533-32B9B03AE2E9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44AD2319-7DE1-464D-8A49-8EE3C34DB82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95B36A2-8A59-4822-A685-18B33758288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B4FBDB6D-D22E-4628-B439-EFC1A0B51E3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A98B91A1-EB69-4C0D-BFE3-C388AACFBA5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ABC0DD-A65B-4CB1-B696-7D0007A4DBD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F63B5E-A775-4147-87EF-1CABC2C27FA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05366B-8368-4664-BF99-0AE97BFC89F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BCCD93-F263-4A88-A53B-B318DD75BB1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2E44A7-36E1-4674-95BC-53D401DC01E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42C799-1AC9-4D2C-A49A-E14C77B4DEB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C9F06B-9178-4580-A871-881390F6BAF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73B09E-476D-4607-82E7-EA4E05AF1DD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A02214-30E7-4950-9DF4-F5207A4E535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ko-KR" sz="1800" b="0" strike="noStrike" spc="-1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2</a:t>
            </a:r>
            <a:r>
              <a:rPr lang="ko-KR" sz="24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3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4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5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6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7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C4D5C3-01E0-4F5A-9666-D9E31734C6E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2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3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4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5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6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7</a:t>
            </a: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KR"/>
              </a:rPr>
              <a:t>&lt;바닥글&gt;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3B995A-6F93-4598-BE16-CDEB53E248D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0" y="5029200"/>
            <a:ext cx="12188520" cy="18284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48640" y="457200"/>
            <a:ext cx="1097244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FFFFFF"/>
                </a:solidFill>
                <a:latin typeface="맑은 고딕"/>
              </a:rPr>
              <a:t>ORION</a:t>
            </a:r>
            <a:endParaRPr lang="en-US" sz="5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548640" y="141732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strike="noStrike" spc="-1">
                <a:solidFill>
                  <a:srgbClr val="BDD7EE"/>
                </a:solidFill>
                <a:latin typeface="맑은 고딕"/>
              </a:rPr>
              <a:t>AI </a:t>
            </a:r>
            <a:r>
              <a:rPr lang="ko-KR" sz="2800" b="1" strike="noStrike" spc="-1">
                <a:solidFill>
                  <a:srgbClr val="BDD7EE"/>
                </a:solidFill>
                <a:latin typeface="맑은 고딕"/>
              </a:rPr>
              <a:t>추론에서의 계층적 메모리 오케스트레이션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548640" y="19659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600" b="0" strike="noStrike" spc="-1">
                <a:solidFill>
                  <a:srgbClr val="BDD7EE"/>
                </a:solidFill>
                <a:latin typeface="맑은 고딕"/>
              </a:rPr>
              <a:t>운영 레짐별 내재적 한계 규명</a:t>
            </a:r>
            <a:endParaRPr lang="en-US" sz="2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548640" y="2697480"/>
            <a:ext cx="3657240" cy="378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548640" y="2834640"/>
            <a:ext cx="9143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BDD7EE"/>
                </a:solidFill>
                <a:latin typeface="맑은 고딕"/>
              </a:rPr>
              <a:t>Research Presentation</a:t>
            </a:r>
            <a:endParaRPr lang="en-US" sz="18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548640" y="3246120"/>
            <a:ext cx="914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800" b="1" strike="noStrike" spc="-1">
                <a:solidFill>
                  <a:srgbClr val="FFFFFF"/>
                </a:solidFill>
                <a:latin typeface="맑은 고딕"/>
              </a:rPr>
              <a:t>임근식 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365760" y="525780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365760" y="562356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연구 배경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왜 메모리 오케스트레이션이 중요한가</a:t>
            </a: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?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182880" y="6556320"/>
            <a:ext cx="9143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365760" y="1188720"/>
            <a:ext cx="11429640" cy="173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최신 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LLM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은 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GPU VRAM 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초과 → 가중치가 호스트 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DRAM / NVMe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로 스필아웃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추론 비용이 파운데이션 모델 전체 자원 발자국의 대부분을 차지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연산 처리량이 아닌 메모리 대역폭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·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용량이 핵심 병목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I/O 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제한 영역에서 운영 시 최적 대비 성능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/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전력비 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3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배 이상 저하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  • CO₂ 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패널티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: IEA 2024 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기준 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100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만 토큰당 </a:t>
            </a:r>
            <a:r>
              <a:rPr lang="en-US" sz="1900" b="0" strike="noStrike" spc="-1">
                <a:solidFill>
                  <a:srgbClr val="404040"/>
                </a:solidFill>
                <a:latin typeface="Calibri"/>
              </a:rPr>
              <a:t>15.8g → 42.5g</a:t>
            </a:r>
            <a:r>
              <a:rPr lang="ko-KR" sz="1900" b="0" strike="noStrike" spc="-1">
                <a:solidFill>
                  <a:srgbClr val="404040"/>
                </a:solidFill>
                <a:latin typeface="Calibri"/>
              </a:rPr>
              <a:t>으로 급증</a:t>
            </a:r>
            <a:endParaRPr lang="en-US" sz="19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" name="Rectangle 8"/>
          <p:cNvSpPr/>
          <p:nvPr/>
        </p:nvSpPr>
        <p:spPr>
          <a:xfrm>
            <a:off x="365760" y="3566160"/>
            <a:ext cx="11338200" cy="255996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548640" y="370332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1" strike="noStrike" spc="-1">
                <a:solidFill>
                  <a:srgbClr val="2E75B6"/>
                </a:solidFill>
                <a:latin typeface="맑은 고딕"/>
              </a:rPr>
              <a:t>핵심 연구 질문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548640" y="4114800"/>
            <a:ext cx="1097244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ko-KR" sz="2000" b="1" strike="noStrike" spc="-1">
                <a:solidFill>
                  <a:srgbClr val="1A356E"/>
                </a:solidFill>
                <a:latin typeface="맑은 고딕"/>
              </a:rPr>
              <a:t>계층적 메모리 오케스트레이션은 연속적으로 최적화 가능한 문제인가</a:t>
            </a:r>
            <a:r>
              <a:rPr lang="en-US" sz="2000" b="1" strike="noStrike" spc="-1">
                <a:solidFill>
                  <a:srgbClr val="1A356E"/>
                </a:solidFill>
                <a:latin typeface="맑은 고딕"/>
              </a:rPr>
              <a:t>,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ko-KR" sz="2000" b="1" strike="noStrike" spc="-1">
                <a:solidFill>
                  <a:srgbClr val="1A356E"/>
                </a:solidFill>
                <a:latin typeface="맑은 고딕"/>
              </a:rPr>
              <a:t>아니면 추가적인 협조가 오히려 지연 시간을 악화시키는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ko-KR" sz="2000" b="1" strike="noStrike" spc="-1">
                <a:solidFill>
                  <a:srgbClr val="1A356E"/>
                </a:solidFill>
                <a:latin typeface="맑은 고딕"/>
              </a:rPr>
              <a:t>내재적 경계가 존재하는가</a:t>
            </a:r>
            <a:r>
              <a:rPr lang="en-US" sz="2000" b="1" strike="noStrike" spc="-1">
                <a:solidFill>
                  <a:srgbClr val="1A356E"/>
                </a:solidFill>
                <a:latin typeface="맑은 고딕"/>
              </a:rPr>
              <a:t>?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세 가지 운영 레짐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두 개의 무차원 제어 비율로 정의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182880" y="6556320"/>
            <a:ext cx="914364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 dirty="0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3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365760" y="1143000"/>
            <a:ext cx="365724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365760" y="1234440"/>
            <a:ext cx="3657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ko-KR" sz="1400" b="0" strike="noStrike" spc="-1">
                <a:solidFill>
                  <a:srgbClr val="FFFFFF"/>
                </a:solidFill>
                <a:latin typeface="Calibri"/>
              </a:rPr>
              <a:t>빠른 메모리 수용 비율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TextBox 9"/>
          <p:cNvSpPr/>
          <p:nvPr/>
        </p:nvSpPr>
        <p:spPr>
          <a:xfrm>
            <a:off x="365760" y="1645920"/>
            <a:ext cx="36572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Rᴄ = Cfast / W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Rectangle 10"/>
          <p:cNvSpPr/>
          <p:nvPr/>
        </p:nvSpPr>
        <p:spPr>
          <a:xfrm>
            <a:off x="4297680" y="1143000"/>
            <a:ext cx="38401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4297680" y="1234440"/>
            <a:ext cx="38401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ko-KR" sz="1400" b="0" strike="noStrike" spc="-1">
                <a:solidFill>
                  <a:srgbClr val="FFFFFF"/>
                </a:solidFill>
                <a:latin typeface="Calibri"/>
              </a:rPr>
              <a:t>전송 압력 비율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4297680" y="1645920"/>
            <a:ext cx="38401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</a:rPr>
              <a:t>Rʙ = Bslow · Δt / D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8412480" y="1234440"/>
            <a:ext cx="34743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ED7D31"/>
                </a:solidFill>
                <a:latin typeface="Calibri"/>
              </a:rPr>
              <a:t>θᴄ ≈ 0.50    θʙ ≈ 0.40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TextBox 14"/>
          <p:cNvSpPr/>
          <p:nvPr/>
        </p:nvSpPr>
        <p:spPr>
          <a:xfrm>
            <a:off x="8412480" y="1691640"/>
            <a:ext cx="347436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실험적으로 보정된 임계값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Rectangle 15"/>
          <p:cNvSpPr/>
          <p:nvPr/>
        </p:nvSpPr>
        <p:spPr>
          <a:xfrm>
            <a:off x="274320" y="2286000"/>
            <a:ext cx="3520080" cy="3474360"/>
          </a:xfrm>
          <a:prstGeom prst="rect">
            <a:avLst/>
          </a:prstGeom>
          <a:solidFill>
            <a:srgbClr val="FFE6CC"/>
          </a:solidFill>
          <a:ln w="25400">
            <a:solidFill>
              <a:srgbClr val="ED7D3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16"/>
          <p:cNvSpPr/>
          <p:nvPr/>
        </p:nvSpPr>
        <p:spPr>
          <a:xfrm>
            <a:off x="4297680" y="2286000"/>
            <a:ext cx="3520080" cy="3474360"/>
          </a:xfrm>
          <a:prstGeom prst="rect">
            <a:avLst/>
          </a:prstGeom>
          <a:solidFill>
            <a:srgbClr val="E2EFDA"/>
          </a:solidFill>
          <a:ln w="254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17"/>
          <p:cNvSpPr/>
          <p:nvPr/>
        </p:nvSpPr>
        <p:spPr>
          <a:xfrm>
            <a:off x="8321040" y="2286000"/>
            <a:ext cx="3520080" cy="3474360"/>
          </a:xfrm>
          <a:prstGeom prst="rect">
            <a:avLst/>
          </a:prstGeom>
          <a:solidFill>
            <a:srgbClr val="FFE0E0"/>
          </a:solidFill>
          <a:ln w="25400">
            <a:solidFill>
              <a:srgbClr val="C00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8"/>
          <p:cNvSpPr/>
          <p:nvPr/>
        </p:nvSpPr>
        <p:spPr>
          <a:xfrm>
            <a:off x="41148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맑은 고딕"/>
              </a:rPr>
              <a:t>① </a:t>
            </a:r>
            <a:r>
              <a:rPr lang="ko-KR" sz="1700" b="1" strike="noStrike" spc="-1">
                <a:solidFill>
                  <a:srgbClr val="1A356E"/>
                </a:solidFill>
                <a:latin typeface="맑은 고딕"/>
              </a:rPr>
              <a:t>용량 제한 레짐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" name="Rectangle 19"/>
          <p:cNvSpPr/>
          <p:nvPr/>
        </p:nvSpPr>
        <p:spPr>
          <a:xfrm>
            <a:off x="411480" y="2834640"/>
            <a:ext cx="3245760" cy="36540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0"/>
          <p:cNvSpPr/>
          <p:nvPr/>
        </p:nvSpPr>
        <p:spPr>
          <a:xfrm>
            <a:off x="41148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</a:rPr>
              <a:t>Rᴄ &lt; θᴄ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6" name="TextBox 21"/>
          <p:cNvSpPr/>
          <p:nvPr/>
        </p:nvSpPr>
        <p:spPr>
          <a:xfrm>
            <a:off x="411480" y="3291840"/>
            <a:ext cx="324576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빠른 메모리가 작업 세트를 수용 불가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빈번한 축출 및 재로드 발생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오케스트레이션 효과 ≤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5%.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해결책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: HBM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증설 또는 양자화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" name="TextBox 22"/>
          <p:cNvSpPr/>
          <p:nvPr/>
        </p:nvSpPr>
        <p:spPr>
          <a:xfrm>
            <a:off x="443484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맑은 고딕"/>
              </a:rPr>
              <a:t>② </a:t>
            </a:r>
            <a:r>
              <a:rPr lang="ko-KR" sz="1700" b="1" strike="noStrike" spc="-1">
                <a:solidFill>
                  <a:srgbClr val="1A356E"/>
                </a:solidFill>
                <a:latin typeface="맑은 고딕"/>
              </a:rPr>
              <a:t>조율 주도 레짐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8" name="Rectangle 23"/>
          <p:cNvSpPr/>
          <p:nvPr/>
        </p:nvSpPr>
        <p:spPr>
          <a:xfrm>
            <a:off x="4434840" y="2834640"/>
            <a:ext cx="3245760" cy="36540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4"/>
          <p:cNvSpPr/>
          <p:nvPr/>
        </p:nvSpPr>
        <p:spPr>
          <a:xfrm>
            <a:off x="443484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</a:rPr>
              <a:t>Rᴄ ≥ θᴄ  and  Rʙ ≥ θʙ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0" name="TextBox 25"/>
          <p:cNvSpPr/>
          <p:nvPr/>
        </p:nvSpPr>
        <p:spPr>
          <a:xfrm>
            <a:off x="4434840" y="3291840"/>
            <a:ext cx="324576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4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가지 지연 항이 균형 잡힘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오케스트레이션 효과 최대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18–27%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지연 감소 달성 가능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FlexGen, vLLM, Orion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의 설계 영역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TextBox 26"/>
          <p:cNvSpPr/>
          <p:nvPr/>
        </p:nvSpPr>
        <p:spPr>
          <a:xfrm>
            <a:off x="8458200" y="2377440"/>
            <a:ext cx="324576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A356E"/>
                </a:solidFill>
                <a:latin typeface="맑은 고딕"/>
              </a:rPr>
              <a:t>③ I/O </a:t>
            </a:r>
            <a:r>
              <a:rPr lang="ko-KR" sz="1700" b="1" strike="noStrike" spc="-1">
                <a:solidFill>
                  <a:srgbClr val="1A356E"/>
                </a:solidFill>
                <a:latin typeface="맑은 고딕"/>
              </a:rPr>
              <a:t>제한 레짐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" name="Rectangle 27"/>
          <p:cNvSpPr/>
          <p:nvPr/>
        </p:nvSpPr>
        <p:spPr>
          <a:xfrm>
            <a:off x="8458200" y="2834640"/>
            <a:ext cx="3245760" cy="3654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8"/>
          <p:cNvSpPr/>
          <p:nvPr/>
        </p:nvSpPr>
        <p:spPr>
          <a:xfrm>
            <a:off x="8458200" y="2853000"/>
            <a:ext cx="324576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</a:rPr>
              <a:t>Rʙ &lt; θʙ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" name="TextBox 29"/>
          <p:cNvSpPr/>
          <p:nvPr/>
        </p:nvSpPr>
        <p:spPr>
          <a:xfrm>
            <a:off x="8458200" y="3291840"/>
            <a:ext cx="324576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PCIe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대역폭 포화 상태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추가 협조는 오버헤드만 증가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공격적 오프로딩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8–12%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악화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해결책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: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전송량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D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자체를 줄여야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분석 모델 및 구조적 하한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논문 수식 </a:t>
            </a: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1–3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182880" y="6556320"/>
            <a:ext cx="914364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 dirty="0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" name="Rectangle 7"/>
          <p:cNvSpPr/>
          <p:nvPr/>
        </p:nvSpPr>
        <p:spPr>
          <a:xfrm>
            <a:off x="365760" y="1143000"/>
            <a:ext cx="11429640" cy="14626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548640" y="118872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500" b="1" strike="noStrike" spc="-1">
                <a:solidFill>
                  <a:srgbClr val="2E75B6"/>
                </a:solidFill>
                <a:latin typeface="맑은 고딕"/>
              </a:rPr>
              <a:t>지연 시간 분해 </a:t>
            </a:r>
            <a:r>
              <a:rPr lang="en-US" sz="1500" b="1" strike="noStrike" spc="-1">
                <a:solidFill>
                  <a:srgbClr val="2E75B6"/>
                </a:solidFill>
                <a:latin typeface="맑은 고딕"/>
              </a:rPr>
              <a:t>(</a:t>
            </a:r>
            <a:r>
              <a:rPr lang="ko-KR" sz="1500" b="1" strike="noStrike" spc="-1">
                <a:solidFill>
                  <a:srgbClr val="2E75B6"/>
                </a:solidFill>
                <a:latin typeface="맑은 고딕"/>
              </a:rPr>
              <a:t>수식 </a:t>
            </a:r>
            <a:r>
              <a:rPr lang="en-US" sz="1500" b="1" strike="noStrike" spc="-1">
                <a:solidFill>
                  <a:srgbClr val="2E75B6"/>
                </a:solidFill>
                <a:latin typeface="맑은 고딕"/>
              </a:rPr>
              <a:t>1)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548640" y="15087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A356E"/>
                </a:solidFill>
                <a:latin typeface="Calibri"/>
              </a:rPr>
              <a:t>T_total  =  T_comp  +  T_mem  +  T_swap  +  T_sync</a:t>
            </a:r>
            <a:endParaRPr lang="en-US" sz="2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Rectangle 10"/>
          <p:cNvSpPr/>
          <p:nvPr/>
        </p:nvSpPr>
        <p:spPr>
          <a:xfrm>
            <a:off x="365760" y="2743200"/>
            <a:ext cx="11429640" cy="1462680"/>
          </a:xfrm>
          <a:prstGeom prst="rect">
            <a:avLst/>
          </a:prstGeom>
          <a:solidFill>
            <a:srgbClr val="FFF0E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548640" y="278892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500" b="1" strike="noStrike" spc="-1">
                <a:solidFill>
                  <a:srgbClr val="ED7D31"/>
                </a:solidFill>
                <a:latin typeface="맑은 고딕"/>
              </a:rPr>
              <a:t>구조적 하한 </a:t>
            </a:r>
            <a:r>
              <a:rPr lang="en-US" sz="1500" b="1" strike="noStrike" spc="-1">
                <a:solidFill>
                  <a:srgbClr val="ED7D31"/>
                </a:solidFill>
                <a:latin typeface="맑은 고딕"/>
              </a:rPr>
              <a:t>(</a:t>
            </a:r>
            <a:r>
              <a:rPr lang="ko-KR" sz="1500" b="1" strike="noStrike" spc="-1">
                <a:solidFill>
                  <a:srgbClr val="ED7D31"/>
                </a:solidFill>
                <a:latin typeface="맑은 고딕"/>
              </a:rPr>
              <a:t>수식 </a:t>
            </a:r>
            <a:r>
              <a:rPr lang="en-US" sz="1500" b="1" strike="noStrike" spc="-1">
                <a:solidFill>
                  <a:srgbClr val="ED7D31"/>
                </a:solidFill>
                <a:latin typeface="맑은 고딕"/>
              </a:rPr>
              <a:t>3) — </a:t>
            </a:r>
            <a:r>
              <a:rPr lang="ko-KR" sz="1500" b="1" strike="noStrike" spc="-1">
                <a:solidFill>
                  <a:srgbClr val="ED7D31"/>
                </a:solidFill>
                <a:latin typeface="맑은 고딕"/>
              </a:rPr>
              <a:t>오케스트레이션 정책과 무관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548640" y="3108960"/>
            <a:ext cx="109724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strike="noStrike" spc="-1">
                <a:solidFill>
                  <a:srgbClr val="1A356E"/>
                </a:solidFill>
                <a:latin typeface="Calibri"/>
              </a:rPr>
              <a:t>T_total  ≥  ρ·W·max(0, 1−Rᴄ)  +  D / Bslow</a:t>
            </a:r>
            <a:endParaRPr lang="en-US" sz="2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457200" y="4343400"/>
            <a:ext cx="10972440" cy="12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첫째 항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: 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어떤 축출 정책에서도 불가피한 메모리 접근 페널티 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(Mattson 1970)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둘째 항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: D 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필수 바이트 전송에 필요한 최소 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DMA 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시간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T_sync 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제외 — 줄일 수 있지만 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0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으로 만들 수 없는 협조 오버헤드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  • Orion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은 하한의 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86–92%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에 도달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; 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나머지 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8–14% ≈ </a:t>
            </a:r>
            <a:r>
              <a:rPr lang="ko-KR" sz="1700" b="0" strike="noStrike" spc="-1">
                <a:solidFill>
                  <a:srgbClr val="404040"/>
                </a:solidFill>
                <a:latin typeface="Calibri"/>
              </a:rPr>
              <a:t>줄일 수 없는 </a:t>
            </a:r>
            <a:r>
              <a:rPr lang="en-US" sz="1700" b="0" strike="noStrike" spc="-1">
                <a:solidFill>
                  <a:srgbClr val="404040"/>
                </a:solidFill>
                <a:latin typeface="Calibri"/>
              </a:rPr>
              <a:t>T_sync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계산 예시 — </a:t>
            </a: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A100 80GB</a:t>
            </a: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에서 </a:t>
            </a: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Llama-3 8B </a:t>
            </a: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추론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데이터시트 </a:t>
            </a: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+ </a:t>
            </a: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모델 카드만으로 배포 전 사전 진단 가능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182880" y="6556320"/>
            <a:ext cx="914364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 dirty="0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5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" name="Rectangle 7"/>
          <p:cNvSpPr/>
          <p:nvPr/>
        </p:nvSpPr>
        <p:spPr>
          <a:xfrm>
            <a:off x="365760" y="1143000"/>
            <a:ext cx="5303160" cy="5028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548640" y="11887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2E75B6"/>
                </a:solidFill>
                <a:latin typeface="맑은 고딕"/>
              </a:rPr>
              <a:t>하드웨어 </a:t>
            </a:r>
            <a:r>
              <a:rPr lang="en-US" sz="1400" b="1" strike="noStrike" spc="-1">
                <a:solidFill>
                  <a:srgbClr val="2E75B6"/>
                </a:solidFill>
                <a:latin typeface="맑은 고딕"/>
              </a:rPr>
              <a:t>+ </a:t>
            </a:r>
            <a:r>
              <a:rPr lang="ko-KR" sz="1400" b="1" strike="noStrike" spc="-1">
                <a:solidFill>
                  <a:srgbClr val="2E75B6"/>
                </a:solidFill>
                <a:latin typeface="맑은 고딕"/>
              </a:rPr>
              <a:t>모델 파라미터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6" name="Rectangle 9"/>
          <p:cNvSpPr/>
          <p:nvPr/>
        </p:nvSpPr>
        <p:spPr>
          <a:xfrm>
            <a:off x="502920" y="160020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10"/>
          <p:cNvSpPr/>
          <p:nvPr/>
        </p:nvSpPr>
        <p:spPr>
          <a:xfrm>
            <a:off x="594360" y="164592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W (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작업 세트 크기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" name="TextBox 11"/>
          <p:cNvSpPr/>
          <p:nvPr/>
        </p:nvSpPr>
        <p:spPr>
          <a:xfrm>
            <a:off x="2926080" y="164592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41.8 GB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" name="TextBox 12"/>
          <p:cNvSpPr/>
          <p:nvPr/>
        </p:nvSpPr>
        <p:spPr>
          <a:xfrm>
            <a:off x="594360" y="19476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100" b="0" strike="noStrike" spc="-1">
                <a:solidFill>
                  <a:srgbClr val="808080"/>
                </a:solidFill>
                <a:latin typeface="맑은 고딕"/>
              </a:rPr>
              <a:t>파라미터 </a:t>
            </a:r>
            <a:r>
              <a:rPr lang="en-US" sz="1100" b="0" strike="noStrike" spc="-1">
                <a:solidFill>
                  <a:srgbClr val="808080"/>
                </a:solidFill>
                <a:latin typeface="맑은 고딕"/>
              </a:rPr>
              <a:t>16 + </a:t>
            </a:r>
            <a:r>
              <a:rPr lang="ko-KR" sz="1100" b="0" strike="noStrike" spc="-1">
                <a:solidFill>
                  <a:srgbClr val="808080"/>
                </a:solidFill>
                <a:latin typeface="맑은 고딕"/>
              </a:rPr>
              <a:t>활성화 </a:t>
            </a:r>
            <a:r>
              <a:rPr lang="en-US" sz="1100" b="0" strike="noStrike" spc="-1">
                <a:solidFill>
                  <a:srgbClr val="808080"/>
                </a:solidFill>
                <a:latin typeface="맑은 고딕"/>
              </a:rPr>
              <a:t>17.2 + KV </a:t>
            </a:r>
            <a:r>
              <a:rPr lang="ko-KR" sz="1100" b="0" strike="noStrike" spc="-1">
                <a:solidFill>
                  <a:srgbClr val="808080"/>
                </a:solidFill>
                <a:latin typeface="맑은 고딕"/>
              </a:rPr>
              <a:t>캐시 </a:t>
            </a:r>
            <a:r>
              <a:rPr lang="en-US" sz="1100" b="0" strike="noStrike" spc="-1">
                <a:solidFill>
                  <a:srgbClr val="808080"/>
                </a:solidFill>
                <a:latin typeface="맑은 고딕"/>
              </a:rPr>
              <a:t>8.6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Rectangle 13"/>
          <p:cNvSpPr/>
          <p:nvPr/>
        </p:nvSpPr>
        <p:spPr>
          <a:xfrm>
            <a:off x="502920" y="237744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14"/>
          <p:cNvSpPr/>
          <p:nvPr/>
        </p:nvSpPr>
        <p:spPr>
          <a:xfrm>
            <a:off x="594360" y="242316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Cfast (HBM)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" name="TextBox 15"/>
          <p:cNvSpPr/>
          <p:nvPr/>
        </p:nvSpPr>
        <p:spPr>
          <a:xfrm>
            <a:off x="2926080" y="242316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80 GB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TextBox 16"/>
          <p:cNvSpPr/>
          <p:nvPr/>
        </p:nvSpPr>
        <p:spPr>
          <a:xfrm>
            <a:off x="594360" y="272484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808080"/>
                </a:solidFill>
                <a:latin typeface="맑은 고딕"/>
              </a:rPr>
              <a:t>A100 80GB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" name="Rectangle 17"/>
          <p:cNvSpPr/>
          <p:nvPr/>
        </p:nvSpPr>
        <p:spPr>
          <a:xfrm>
            <a:off x="502920" y="315468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18"/>
          <p:cNvSpPr/>
          <p:nvPr/>
        </p:nvSpPr>
        <p:spPr>
          <a:xfrm>
            <a:off x="594360" y="320040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Bslow (PCIe Gen4)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" name="TextBox 19"/>
          <p:cNvSpPr/>
          <p:nvPr/>
        </p:nvSpPr>
        <p:spPr>
          <a:xfrm>
            <a:off x="2926080" y="320040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16.1 GB/s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594360" y="35020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100" b="0" strike="noStrike" spc="-1">
                <a:solidFill>
                  <a:srgbClr val="808080"/>
                </a:solidFill>
                <a:latin typeface="맑은 고딕"/>
              </a:rPr>
              <a:t>호스트→장치 지속 대역폭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Rectangle 21"/>
          <p:cNvSpPr/>
          <p:nvPr/>
        </p:nvSpPr>
        <p:spPr>
          <a:xfrm>
            <a:off x="502920" y="393192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22"/>
          <p:cNvSpPr/>
          <p:nvPr/>
        </p:nvSpPr>
        <p:spPr>
          <a:xfrm>
            <a:off x="594360" y="39776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D (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스텝당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" name="TextBox 23"/>
          <p:cNvSpPr/>
          <p:nvPr/>
        </p:nvSpPr>
        <p:spPr>
          <a:xfrm>
            <a:off x="2926080" y="397764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1.2 GB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TextBox 24"/>
          <p:cNvSpPr/>
          <p:nvPr/>
        </p:nvSpPr>
        <p:spPr>
          <a:xfrm>
            <a:off x="594360" y="427932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100" b="0" strike="noStrike" spc="-1">
                <a:solidFill>
                  <a:srgbClr val="808080"/>
                </a:solidFill>
                <a:latin typeface="맑은 고딕"/>
              </a:rPr>
              <a:t>필수 전송량</a:t>
            </a:r>
            <a:r>
              <a:rPr lang="en-US" sz="1100" b="0" strike="noStrike" spc="-1">
                <a:solidFill>
                  <a:srgbClr val="808080"/>
                </a:solidFill>
                <a:latin typeface="맑은 고딕"/>
              </a:rPr>
              <a:t>; Rᴄ &gt;&gt; θᴄ</a:t>
            </a:r>
            <a:r>
              <a:rPr lang="ko-KR" sz="1100" b="0" strike="noStrike" spc="-1">
                <a:solidFill>
                  <a:srgbClr val="808080"/>
                </a:solidFill>
                <a:latin typeface="맑은 고딕"/>
              </a:rPr>
              <a:t>이므로 소량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Rectangle 25"/>
          <p:cNvSpPr/>
          <p:nvPr/>
        </p:nvSpPr>
        <p:spPr>
          <a:xfrm>
            <a:off x="502920" y="4709160"/>
            <a:ext cx="50288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6"/>
          <p:cNvSpPr/>
          <p:nvPr/>
        </p:nvSpPr>
        <p:spPr>
          <a:xfrm>
            <a:off x="594360" y="475488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Δt (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스텝 소요 시간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4" name="TextBox 27"/>
          <p:cNvSpPr/>
          <p:nvPr/>
        </p:nvSpPr>
        <p:spPr>
          <a:xfrm>
            <a:off x="2926080" y="4754880"/>
            <a:ext cx="13712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Calibri"/>
              </a:rPr>
              <a:t>120 ms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" name="TextBox 28"/>
          <p:cNvSpPr/>
          <p:nvPr/>
        </p:nvSpPr>
        <p:spPr>
          <a:xfrm>
            <a:off x="594360" y="505656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100" b="0" strike="noStrike" spc="-1">
                <a:solidFill>
                  <a:srgbClr val="808080"/>
                </a:solidFill>
                <a:latin typeface="맑은 고딕"/>
              </a:rPr>
              <a:t>실측 벽시계 시간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" name="Rectangle 29"/>
          <p:cNvSpPr/>
          <p:nvPr/>
        </p:nvSpPr>
        <p:spPr>
          <a:xfrm>
            <a:off x="5989320" y="1143000"/>
            <a:ext cx="5851800" cy="5028840"/>
          </a:xfrm>
          <a:prstGeom prst="rect">
            <a:avLst/>
          </a:prstGeom>
          <a:solidFill>
            <a:srgbClr val="E2EFD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30"/>
          <p:cNvSpPr/>
          <p:nvPr/>
        </p:nvSpPr>
        <p:spPr>
          <a:xfrm>
            <a:off x="6172200" y="11887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378644"/>
                </a:solidFill>
                <a:latin typeface="맑은 고딕"/>
              </a:rPr>
              <a:t>계산된 비율 및 레짐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" name="Rectangle 31"/>
          <p:cNvSpPr/>
          <p:nvPr/>
        </p:nvSpPr>
        <p:spPr>
          <a:xfrm>
            <a:off x="6126480" y="160020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32"/>
          <p:cNvSpPr/>
          <p:nvPr/>
        </p:nvSpPr>
        <p:spPr>
          <a:xfrm>
            <a:off x="6263640" y="164592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맑은 고딕"/>
              </a:rPr>
              <a:t>Rᴄ = Cfast / W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0" name="TextBox 33"/>
          <p:cNvSpPr/>
          <p:nvPr/>
        </p:nvSpPr>
        <p:spPr>
          <a:xfrm>
            <a:off x="6263640" y="194760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2E75B6"/>
                </a:solidFill>
                <a:latin typeface="Calibri"/>
              </a:rPr>
              <a:t>= 80 / 41.8 = 1.92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1" name="TextBox 34"/>
          <p:cNvSpPr/>
          <p:nvPr/>
        </p:nvSpPr>
        <p:spPr>
          <a:xfrm>
            <a:off x="6263640" y="228600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8644"/>
                </a:solidFill>
                <a:latin typeface="맑은 고딕"/>
              </a:rPr>
              <a:t>&gt;&gt; θᴄ = 0.50</a:t>
            </a:r>
            <a:endParaRPr lang="en-US" sz="1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Rectangle 35"/>
          <p:cNvSpPr/>
          <p:nvPr/>
        </p:nvSpPr>
        <p:spPr>
          <a:xfrm>
            <a:off x="6126480" y="278892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36"/>
          <p:cNvSpPr/>
          <p:nvPr/>
        </p:nvSpPr>
        <p:spPr>
          <a:xfrm>
            <a:off x="6263640" y="283464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A356E"/>
                </a:solidFill>
                <a:latin typeface="맑은 고딕"/>
              </a:rPr>
              <a:t>Rʙ = Bslow·Δt / 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" name="TextBox 37"/>
          <p:cNvSpPr/>
          <p:nvPr/>
        </p:nvSpPr>
        <p:spPr>
          <a:xfrm>
            <a:off x="6263640" y="313632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2E75B6"/>
                </a:solidFill>
                <a:latin typeface="Calibri"/>
              </a:rPr>
              <a:t>= 16.1×0.12 / 1.2 = 1.61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" name="TextBox 38"/>
          <p:cNvSpPr/>
          <p:nvPr/>
        </p:nvSpPr>
        <p:spPr>
          <a:xfrm>
            <a:off x="6263640" y="347472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8644"/>
                </a:solidFill>
                <a:latin typeface="맑은 고딕"/>
              </a:rPr>
              <a:t>&gt;&gt; θʙ = 0.40</a:t>
            </a:r>
            <a:endParaRPr lang="en-US" sz="1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" name="Rectangle 39"/>
          <p:cNvSpPr/>
          <p:nvPr/>
        </p:nvSpPr>
        <p:spPr>
          <a:xfrm>
            <a:off x="6126480" y="3977640"/>
            <a:ext cx="54860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40"/>
          <p:cNvSpPr/>
          <p:nvPr/>
        </p:nvSpPr>
        <p:spPr>
          <a:xfrm>
            <a:off x="6263640" y="402336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1A356E"/>
                </a:solidFill>
                <a:latin typeface="맑은 고딕"/>
              </a:rPr>
              <a:t>운영 레짐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TextBox 41"/>
          <p:cNvSpPr/>
          <p:nvPr/>
        </p:nvSpPr>
        <p:spPr>
          <a:xfrm>
            <a:off x="6263640" y="432504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800" b="1" strike="noStrike" spc="-1">
                <a:solidFill>
                  <a:srgbClr val="2E75B6"/>
                </a:solidFill>
                <a:latin typeface="Calibri"/>
              </a:rPr>
              <a:t>조율 주도 레짐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" name="TextBox 42"/>
          <p:cNvSpPr/>
          <p:nvPr/>
        </p:nvSpPr>
        <p:spPr>
          <a:xfrm>
            <a:off x="6263640" y="4663440"/>
            <a:ext cx="50288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200" b="0" strike="noStrike" spc="-1">
                <a:solidFill>
                  <a:srgbClr val="378644"/>
                </a:solidFill>
                <a:latin typeface="맑은 고딕"/>
              </a:rPr>
              <a:t>오케스트레이션 효과적</a:t>
            </a:r>
            <a:endParaRPr lang="en-US" sz="12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핵심 결과 — 전략 순위 역전 </a:t>
            </a: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(Table 2)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동일한 방법이 한 레짐에서는 도움이 되고 다른 레짐에서는 악화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182880" y="6556320"/>
            <a:ext cx="914364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 dirty="0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6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Rectangle 7"/>
          <p:cNvSpPr/>
          <p:nvPr/>
        </p:nvSpPr>
        <p:spPr>
          <a:xfrm>
            <a:off x="274320" y="1188720"/>
            <a:ext cx="11612520" cy="4568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320040" y="1207080"/>
            <a:ext cx="21942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FFFFFF"/>
                </a:solidFill>
                <a:latin typeface="맑은 고딕"/>
              </a:rPr>
              <a:t>방법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2697480" y="1207080"/>
            <a:ext cx="26514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FFFFFF"/>
                </a:solidFill>
                <a:latin typeface="맑은 고딕"/>
              </a:rPr>
              <a:t>용량 제한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5532120" y="1207080"/>
            <a:ext cx="31086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FFFFFF"/>
                </a:solidFill>
                <a:latin typeface="맑은 고딕"/>
              </a:rPr>
              <a:t>조율 주도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8823960" y="1207080"/>
            <a:ext cx="2834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맑은 고딕"/>
              </a:rPr>
              <a:t>I/O </a:t>
            </a:r>
            <a:r>
              <a:rPr lang="ko-KR" sz="1400" b="1" strike="noStrike" spc="-1">
                <a:solidFill>
                  <a:srgbClr val="FFFFFF"/>
                </a:solidFill>
                <a:latin typeface="맑은 고딕"/>
              </a:rPr>
              <a:t>제한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Rectangle 12"/>
          <p:cNvSpPr/>
          <p:nvPr/>
        </p:nvSpPr>
        <p:spPr>
          <a:xfrm>
            <a:off x="274320" y="1645920"/>
            <a:ext cx="11612520" cy="639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320040" y="173736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맑은 고딕"/>
              </a:rPr>
              <a:t>PyTorch (</a:t>
            </a:r>
            <a:r>
              <a:rPr lang="ko-KR" sz="1500" b="0" strike="noStrike" spc="-1">
                <a:solidFill>
                  <a:srgbClr val="404040"/>
                </a:solidFill>
                <a:latin typeface="맑은 고딕"/>
              </a:rPr>
              <a:t>기준선</a:t>
            </a:r>
            <a:r>
              <a:rPr lang="en-US" sz="1500" b="0" strike="noStrike" spc="-1">
                <a:solidFill>
                  <a:srgbClr val="404040"/>
                </a:solidFill>
                <a:latin typeface="맑은 고딕"/>
              </a:rPr>
              <a:t>)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2697480" y="173736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" name="TextBox 15"/>
          <p:cNvSpPr/>
          <p:nvPr/>
        </p:nvSpPr>
        <p:spPr>
          <a:xfrm>
            <a:off x="5532120" y="173736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5" name="TextBox 16"/>
          <p:cNvSpPr/>
          <p:nvPr/>
        </p:nvSpPr>
        <p:spPr>
          <a:xfrm>
            <a:off x="8823960" y="173736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Rectangle 17"/>
          <p:cNvSpPr/>
          <p:nvPr/>
        </p:nvSpPr>
        <p:spPr>
          <a:xfrm>
            <a:off x="274320" y="2304360"/>
            <a:ext cx="11612520" cy="639720"/>
          </a:xfrm>
          <a:prstGeom prst="rect">
            <a:avLst/>
          </a:prstGeom>
          <a:solidFill>
            <a:srgbClr val="FFFFE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18"/>
          <p:cNvSpPr/>
          <p:nvPr/>
        </p:nvSpPr>
        <p:spPr>
          <a:xfrm>
            <a:off x="320040" y="23958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맑은 고딕"/>
              </a:rPr>
              <a:t>FlexGen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" name="TextBox 19"/>
          <p:cNvSpPr/>
          <p:nvPr/>
        </p:nvSpPr>
        <p:spPr>
          <a:xfrm>
            <a:off x="2697480" y="239580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−1.5%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" name="TextBox 20"/>
          <p:cNvSpPr/>
          <p:nvPr/>
        </p:nvSpPr>
        <p:spPr>
          <a:xfrm>
            <a:off x="5532120" y="239580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C00000"/>
                </a:solidFill>
                <a:latin typeface="Calibri"/>
              </a:rPr>
              <a:t>+24.0%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TextBox 21"/>
          <p:cNvSpPr/>
          <p:nvPr/>
        </p:nvSpPr>
        <p:spPr>
          <a:xfrm>
            <a:off x="8823960" y="239580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−8.0%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Rectangle 22"/>
          <p:cNvSpPr/>
          <p:nvPr/>
        </p:nvSpPr>
        <p:spPr>
          <a:xfrm>
            <a:off x="274320" y="2962800"/>
            <a:ext cx="11612520" cy="639720"/>
          </a:xfrm>
          <a:prstGeom prst="rect">
            <a:avLst/>
          </a:prstGeom>
          <a:solidFill>
            <a:srgbClr val="FFFFE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23"/>
          <p:cNvSpPr/>
          <p:nvPr/>
        </p:nvSpPr>
        <p:spPr>
          <a:xfrm>
            <a:off x="320040" y="305424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맑은 고딕"/>
              </a:rPr>
              <a:t>DeepSpeed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3" name="TextBox 24"/>
          <p:cNvSpPr/>
          <p:nvPr/>
        </p:nvSpPr>
        <p:spPr>
          <a:xfrm>
            <a:off x="2697480" y="305424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−2.0%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TextBox 25"/>
          <p:cNvSpPr/>
          <p:nvPr/>
        </p:nvSpPr>
        <p:spPr>
          <a:xfrm>
            <a:off x="5532120" y="305424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C00000"/>
                </a:solidFill>
                <a:latin typeface="Calibri"/>
              </a:rPr>
              <a:t>+18.0%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" name="TextBox 26"/>
          <p:cNvSpPr/>
          <p:nvPr/>
        </p:nvSpPr>
        <p:spPr>
          <a:xfrm>
            <a:off x="8823960" y="305424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−5.0%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Rectangle 27"/>
          <p:cNvSpPr/>
          <p:nvPr/>
        </p:nvSpPr>
        <p:spPr>
          <a:xfrm>
            <a:off x="274320" y="3620880"/>
            <a:ext cx="116125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28"/>
          <p:cNvSpPr/>
          <p:nvPr/>
        </p:nvSpPr>
        <p:spPr>
          <a:xfrm>
            <a:off x="320040" y="371232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맑은 고딕"/>
              </a:rPr>
              <a:t>SwapAdvisor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8" name="TextBox 29"/>
          <p:cNvSpPr/>
          <p:nvPr/>
        </p:nvSpPr>
        <p:spPr>
          <a:xfrm>
            <a:off x="2697480" y="371232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−0.5%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Box 30"/>
          <p:cNvSpPr/>
          <p:nvPr/>
        </p:nvSpPr>
        <p:spPr>
          <a:xfrm>
            <a:off x="5532120" y="371232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−10.0%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TextBox 31"/>
          <p:cNvSpPr/>
          <p:nvPr/>
        </p:nvSpPr>
        <p:spPr>
          <a:xfrm>
            <a:off x="8823960" y="371232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C00000"/>
                </a:solidFill>
                <a:latin typeface="Calibri"/>
              </a:rPr>
              <a:t>+5.0%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Rectangle 32"/>
          <p:cNvSpPr/>
          <p:nvPr/>
        </p:nvSpPr>
        <p:spPr>
          <a:xfrm>
            <a:off x="274320" y="4279320"/>
            <a:ext cx="11612520" cy="6397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33"/>
          <p:cNvSpPr/>
          <p:nvPr/>
        </p:nvSpPr>
        <p:spPr>
          <a:xfrm>
            <a:off x="320040" y="437076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맑은 고딕"/>
              </a:rPr>
              <a:t>vLLM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TextBox 34"/>
          <p:cNvSpPr/>
          <p:nvPr/>
        </p:nvSpPr>
        <p:spPr>
          <a:xfrm>
            <a:off x="2697480" y="437076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C00000"/>
                </a:solidFill>
                <a:latin typeface="Calibri"/>
              </a:rPr>
              <a:t>+1.0%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TextBox 35"/>
          <p:cNvSpPr/>
          <p:nvPr/>
        </p:nvSpPr>
        <p:spPr>
          <a:xfrm>
            <a:off x="5532120" y="437076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−13.0%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" name="TextBox 36"/>
          <p:cNvSpPr/>
          <p:nvPr/>
        </p:nvSpPr>
        <p:spPr>
          <a:xfrm>
            <a:off x="8823960" y="437076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−6.0%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6" name="Rectangle 37"/>
          <p:cNvSpPr/>
          <p:nvPr/>
        </p:nvSpPr>
        <p:spPr>
          <a:xfrm>
            <a:off x="274320" y="4937760"/>
            <a:ext cx="11612520" cy="639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38"/>
          <p:cNvSpPr/>
          <p:nvPr/>
        </p:nvSpPr>
        <p:spPr>
          <a:xfrm>
            <a:off x="320040" y="50292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A356E"/>
                </a:solidFill>
                <a:latin typeface="맑은 고딕"/>
              </a:rPr>
              <a:t>Orion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TextBox 39"/>
          <p:cNvSpPr/>
          <p:nvPr/>
        </p:nvSpPr>
        <p:spPr>
          <a:xfrm>
            <a:off x="2697480" y="5029200"/>
            <a:ext cx="2651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</a:rPr>
              <a:t>−4.0%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TextBox 40"/>
          <p:cNvSpPr/>
          <p:nvPr/>
        </p:nvSpPr>
        <p:spPr>
          <a:xfrm>
            <a:off x="5532120" y="502920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−20.5%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TextBox 41"/>
          <p:cNvSpPr/>
          <p:nvPr/>
        </p:nvSpPr>
        <p:spPr>
          <a:xfrm>
            <a:off x="8823960" y="5029200"/>
            <a:ext cx="2834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378644"/>
                </a:solidFill>
                <a:latin typeface="Calibri"/>
              </a:rPr>
              <a:t>−10.5%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1" name="TextBox 42"/>
          <p:cNvSpPr/>
          <p:nvPr/>
        </p:nvSpPr>
        <p:spPr>
          <a:xfrm>
            <a:off x="274320" y="6080760"/>
            <a:ext cx="116125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↑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빨강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=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지연 증가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(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기준선 대비 악화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)    ↓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초록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= 5%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이상 개선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FlexGen: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조율 주도 레짐에서 −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24% → I/O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제한 레짐에서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+8–12%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로 완전 역전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워크로드 일반성 — </a:t>
            </a: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LLM</a:t>
            </a: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을 넘어 </a:t>
            </a: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(Table 3)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BLIP2  ·  RAG  ·  YOLOv8 </a:t>
            </a: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모두 세 가지 레짐 구조 확인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182880" y="6556320"/>
            <a:ext cx="914364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 dirty="0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7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Rectangle 7"/>
          <p:cNvSpPr/>
          <p:nvPr/>
        </p:nvSpPr>
        <p:spPr>
          <a:xfrm>
            <a:off x="36576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502920" y="1280160"/>
            <a:ext cx="33829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A356E"/>
                </a:solidFill>
                <a:latin typeface="맑은 고딕"/>
              </a:rPr>
              <a:t>BLIP2-VQA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50292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시각 질의응답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(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비전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+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언어 융합 모델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1" name="Rectangle 10"/>
          <p:cNvSpPr/>
          <p:nvPr/>
        </p:nvSpPr>
        <p:spPr>
          <a:xfrm>
            <a:off x="502920" y="2423160"/>
            <a:ext cx="3382920" cy="41112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1"/>
          <p:cNvSpPr/>
          <p:nvPr/>
        </p:nvSpPr>
        <p:spPr>
          <a:xfrm>
            <a:off x="50292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FFFFFF"/>
                </a:solidFill>
                <a:latin typeface="맑은 고딕"/>
              </a:rPr>
              <a:t>조율 주도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3" name="TextBox 12"/>
          <p:cNvSpPr/>
          <p:nvPr/>
        </p:nvSpPr>
        <p:spPr>
          <a:xfrm>
            <a:off x="50292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5B6"/>
                </a:solidFill>
                <a:latin typeface="Calibri"/>
              </a:rPr>
              <a:t>Rc=0.62  Rb=1.10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TextBox 13"/>
          <p:cNvSpPr/>
          <p:nvPr/>
        </p:nvSpPr>
        <p:spPr>
          <a:xfrm>
            <a:off x="50292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FlexGen: +24%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vLLM: −13%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Orion: −20.5%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Rectangle 14"/>
          <p:cNvSpPr/>
          <p:nvPr/>
        </p:nvSpPr>
        <p:spPr>
          <a:xfrm>
            <a:off x="429768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15"/>
          <p:cNvSpPr/>
          <p:nvPr/>
        </p:nvSpPr>
        <p:spPr>
          <a:xfrm>
            <a:off x="4434840" y="1280160"/>
            <a:ext cx="33829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000" b="1" strike="noStrike" spc="-1">
                <a:solidFill>
                  <a:srgbClr val="1A356E"/>
                </a:solidFill>
                <a:latin typeface="맑은 고딕"/>
              </a:rPr>
              <a:t>RAG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A356E"/>
                </a:solidFill>
                <a:latin typeface="맑은 고딕"/>
              </a:rPr>
              <a:t>(Llama-3)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7" name="TextBox 16"/>
          <p:cNvSpPr/>
          <p:nvPr/>
        </p:nvSpPr>
        <p:spPr>
          <a:xfrm>
            <a:off x="443484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검색 증강 생성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(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밀집 검색 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+ 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디코딩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Rectangle 17"/>
          <p:cNvSpPr/>
          <p:nvPr/>
        </p:nvSpPr>
        <p:spPr>
          <a:xfrm>
            <a:off x="4434840" y="2423160"/>
            <a:ext cx="3382920" cy="41112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18"/>
          <p:cNvSpPr/>
          <p:nvPr/>
        </p:nvSpPr>
        <p:spPr>
          <a:xfrm>
            <a:off x="443484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FFFFFF"/>
                </a:solidFill>
                <a:latin typeface="맑은 고딕"/>
              </a:rPr>
              <a:t>조율 주도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0" name="TextBox 19"/>
          <p:cNvSpPr/>
          <p:nvPr/>
        </p:nvSpPr>
        <p:spPr>
          <a:xfrm>
            <a:off x="443484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5B6"/>
                </a:solidFill>
                <a:latin typeface="Calibri"/>
              </a:rPr>
              <a:t>Rc=0.58  Rb=0.85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TextBox 20"/>
          <p:cNvSpPr/>
          <p:nvPr/>
        </p:nvSpPr>
        <p:spPr>
          <a:xfrm>
            <a:off x="443484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FlexGen: +24%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vLLM: −13%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Orion: −20.5%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Rectangle 21"/>
          <p:cNvSpPr/>
          <p:nvPr/>
        </p:nvSpPr>
        <p:spPr>
          <a:xfrm>
            <a:off x="8229600" y="1188720"/>
            <a:ext cx="3657240" cy="502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22"/>
          <p:cNvSpPr/>
          <p:nvPr/>
        </p:nvSpPr>
        <p:spPr>
          <a:xfrm>
            <a:off x="8366760" y="1280160"/>
            <a:ext cx="33829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000" b="1" strike="noStrike" spc="-1">
                <a:solidFill>
                  <a:srgbClr val="1A356E"/>
                </a:solidFill>
                <a:latin typeface="맑은 고딕"/>
              </a:rPr>
              <a:t>YOLOv8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A356E"/>
                </a:solidFill>
                <a:latin typeface="맑은 고딕"/>
              </a:rPr>
              <a:t>(</a:t>
            </a:r>
            <a:r>
              <a:rPr lang="ko-KR" sz="2000" b="1" strike="noStrike" spc="-1">
                <a:solidFill>
                  <a:srgbClr val="1A356E"/>
                </a:solidFill>
                <a:latin typeface="맑은 고딕"/>
              </a:rPr>
              <a:t>엣지</a:t>
            </a:r>
            <a:r>
              <a:rPr lang="en-US" sz="2000" b="1" strike="noStrike" spc="-1">
                <a:solidFill>
                  <a:srgbClr val="1A356E"/>
                </a:solidFill>
                <a:latin typeface="맑은 고딕"/>
              </a:rPr>
              <a:t>)</a:t>
            </a:r>
            <a:endParaRPr lang="en-US" sz="20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4" name="TextBox 23"/>
          <p:cNvSpPr/>
          <p:nvPr/>
        </p:nvSpPr>
        <p:spPr>
          <a:xfrm>
            <a:off x="8366760" y="1828800"/>
            <a:ext cx="338292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객체 탐지 추론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(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비자기회귀 모델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Rectangle 24"/>
          <p:cNvSpPr/>
          <p:nvPr/>
        </p:nvSpPr>
        <p:spPr>
          <a:xfrm>
            <a:off x="8366760" y="2423160"/>
            <a:ext cx="3382920" cy="411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25"/>
          <p:cNvSpPr/>
          <p:nvPr/>
        </p:nvSpPr>
        <p:spPr>
          <a:xfrm>
            <a:off x="8366760" y="2441520"/>
            <a:ext cx="3382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FFFFFF"/>
                </a:solidFill>
                <a:latin typeface="맑은 고딕"/>
              </a:rPr>
              <a:t>용량 제한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TextBox 26"/>
          <p:cNvSpPr/>
          <p:nvPr/>
        </p:nvSpPr>
        <p:spPr>
          <a:xfrm>
            <a:off x="8366760" y="2898720"/>
            <a:ext cx="33829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2E75B6"/>
                </a:solidFill>
                <a:latin typeface="Calibri"/>
              </a:rPr>
              <a:t>Rc=0.38  Rb=0.35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TextBox 27"/>
          <p:cNvSpPr/>
          <p:nvPr/>
        </p:nvSpPr>
        <p:spPr>
          <a:xfrm>
            <a:off x="8366760" y="3337560"/>
            <a:ext cx="3382920" cy="77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FlexGen: −1.5%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vLLM: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해당없음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*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Orion: −4%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TextBox 28"/>
          <p:cNvSpPr/>
          <p:nvPr/>
        </p:nvSpPr>
        <p:spPr>
          <a:xfrm>
            <a:off x="274320" y="6309360"/>
            <a:ext cx="116125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* vLLM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은 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YOLOv8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에 적용 불가 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(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토큰 기반 아님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).  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세 비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LLM 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워크로드 모두 동일한 세 레짐 구조 확인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레짐 분류기 </a:t>
            </a:r>
            <a:r>
              <a:rPr lang="en-US" sz="2800" b="1" strike="noStrike" spc="-1">
                <a:solidFill>
                  <a:srgbClr val="FFFFFF"/>
                </a:solidFill>
                <a:latin typeface="Calibri"/>
              </a:rPr>
              <a:t>&amp; </a:t>
            </a: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어블레이션 연구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분류기가 성능 개선에 얼마나 기여하는가</a:t>
            </a:r>
            <a:r>
              <a:rPr lang="en-US" sz="1600" b="0" strike="noStrike" spc="-1">
                <a:solidFill>
                  <a:srgbClr val="BDD7EE"/>
                </a:solidFill>
                <a:latin typeface="Calibri"/>
              </a:rPr>
              <a:t>?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5"/>
          <p:cNvSpPr/>
          <p:nvPr/>
        </p:nvSpPr>
        <p:spPr>
          <a:xfrm>
            <a:off x="182880" y="6556320"/>
            <a:ext cx="914364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 dirty="0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5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8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Rectangle 7"/>
          <p:cNvSpPr/>
          <p:nvPr/>
        </p:nvSpPr>
        <p:spPr>
          <a:xfrm>
            <a:off x="365760" y="1143000"/>
            <a:ext cx="5303160" cy="5028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548640" y="1188720"/>
            <a:ext cx="50288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500" b="1" strike="noStrike" spc="-1">
                <a:solidFill>
                  <a:srgbClr val="2E75B6"/>
                </a:solidFill>
                <a:latin typeface="맑은 고딕"/>
              </a:rPr>
              <a:t>분류기 </a:t>
            </a:r>
            <a:r>
              <a:rPr lang="en-US" sz="1500" b="1" strike="noStrike" spc="-1">
                <a:solidFill>
                  <a:srgbClr val="2E75B6"/>
                </a:solidFill>
                <a:latin typeface="맑은 고딕"/>
              </a:rPr>
              <a:t>(</a:t>
            </a:r>
            <a:r>
              <a:rPr lang="ko-KR" sz="1500" b="1" strike="noStrike" spc="-1">
                <a:solidFill>
                  <a:srgbClr val="2E75B6"/>
                </a:solidFill>
                <a:latin typeface="맑은 고딕"/>
              </a:rPr>
              <a:t>깊이</a:t>
            </a:r>
            <a:r>
              <a:rPr lang="en-US" sz="1500" b="1" strike="noStrike" spc="-1">
                <a:solidFill>
                  <a:srgbClr val="2E75B6"/>
                </a:solidFill>
                <a:latin typeface="맑은 고딕"/>
              </a:rPr>
              <a:t>-3 CART </a:t>
            </a:r>
            <a:r>
              <a:rPr lang="ko-KR" sz="1500" b="1" strike="noStrike" spc="-1">
                <a:solidFill>
                  <a:srgbClr val="2E75B6"/>
                </a:solidFill>
                <a:latin typeface="맑은 고딕"/>
              </a:rPr>
              <a:t>결정 트리</a:t>
            </a:r>
            <a:r>
              <a:rPr lang="en-US" sz="1500" b="1" strike="noStrike" spc="-1">
                <a:solidFill>
                  <a:srgbClr val="2E75B6"/>
                </a:solidFill>
                <a:latin typeface="맑은 고딕"/>
              </a:rPr>
              <a:t>)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8" name="TextBox 9"/>
          <p:cNvSpPr/>
          <p:nvPr/>
        </p:nvSpPr>
        <p:spPr>
          <a:xfrm>
            <a:off x="548640" y="1645920"/>
            <a:ext cx="5028840" cy="143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학습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: 2,400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개 측정값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, 5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개 플랫폼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, 3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개 레짐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교차 검증 정확도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: 93.4% ± 1.2%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추론 비용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: &lt; 0.1 ms  (100 ms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마다 실행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)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피처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: swap/comp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비율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, L2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히트율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, DMA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활용률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히스테리시스 가드</a:t>
            </a:r>
            <a:r>
              <a:rPr lang="en-US" sz="1500" b="0" strike="noStrike" spc="-1">
                <a:solidFill>
                  <a:srgbClr val="404040"/>
                </a:solidFill>
                <a:latin typeface="Calibri"/>
              </a:rPr>
              <a:t>: 2</a:t>
            </a:r>
            <a:r>
              <a:rPr lang="ko-KR" sz="1500" b="0" strike="noStrike" spc="-1">
                <a:solidFill>
                  <a:srgbClr val="404040"/>
                </a:solidFill>
                <a:latin typeface="Calibri"/>
              </a:rPr>
              <a:t>회 연속 확인 후 전환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9" name="TextBox 10"/>
          <p:cNvSpPr/>
          <p:nvPr/>
        </p:nvSpPr>
        <p:spPr>
          <a:xfrm>
            <a:off x="548640" y="429768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1A356E"/>
                </a:solidFill>
                <a:latin typeface="맑은 고딕"/>
              </a:rPr>
              <a:t>결정 트리 구조</a:t>
            </a:r>
            <a:r>
              <a:rPr lang="en-US" sz="1400" b="1" strike="noStrike" spc="-1">
                <a:solidFill>
                  <a:srgbClr val="1A356E"/>
                </a:solidFill>
                <a:latin typeface="맑은 고딕"/>
              </a:rPr>
              <a:t>: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548640" y="4663440"/>
            <a:ext cx="50288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  Rᴄ &lt; 0.50?  → 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예 → 용량 제한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              → 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아니오 →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Rʙ &lt; 0.40?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                          → 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예 →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I/O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제한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                          → 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아니오 → 조율 주도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1" name="Rectangle 12"/>
          <p:cNvSpPr/>
          <p:nvPr/>
        </p:nvSpPr>
        <p:spPr>
          <a:xfrm>
            <a:off x="5989320" y="1143000"/>
            <a:ext cx="5851800" cy="502884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13"/>
          <p:cNvSpPr/>
          <p:nvPr/>
        </p:nvSpPr>
        <p:spPr>
          <a:xfrm>
            <a:off x="6172200" y="1188720"/>
            <a:ext cx="54860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400" b="1" strike="noStrike" spc="-1">
                <a:solidFill>
                  <a:srgbClr val="2E75B6"/>
                </a:solidFill>
                <a:latin typeface="맑은 고딕"/>
              </a:rPr>
              <a:t>어블레이션</a:t>
            </a:r>
            <a:r>
              <a:rPr lang="en-US" sz="1400" b="1" strike="noStrike" spc="-1">
                <a:solidFill>
                  <a:srgbClr val="2E75B6"/>
                </a:solidFill>
                <a:latin typeface="맑은 고딕"/>
              </a:rPr>
              <a:t>: Orion_HW vs Orion_Full (Table D.1)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3" name="Rectangle 14"/>
          <p:cNvSpPr/>
          <p:nvPr/>
        </p:nvSpPr>
        <p:spPr>
          <a:xfrm>
            <a:off x="6126480" y="173736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15"/>
          <p:cNvSpPr/>
          <p:nvPr/>
        </p:nvSpPr>
        <p:spPr>
          <a:xfrm>
            <a:off x="6263640" y="178308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2E75B6"/>
                </a:solidFill>
                <a:latin typeface="맑은 고딕"/>
              </a:rPr>
              <a:t>Orion_HW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5" name="TextBox 16"/>
          <p:cNvSpPr/>
          <p:nvPr/>
        </p:nvSpPr>
        <p:spPr>
          <a:xfrm>
            <a:off x="6263640" y="2286000"/>
            <a:ext cx="228564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NUMA + 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프로세스 고정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+ GPU 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맞춤 스와핑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6" name="TextBox 17"/>
          <p:cNvSpPr/>
          <p:nvPr/>
        </p:nvSpPr>
        <p:spPr>
          <a:xfrm>
            <a:off x="8686800" y="201168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2E75B6"/>
                </a:solidFill>
                <a:latin typeface="Calibri"/>
              </a:rPr>
              <a:t>−3.8 ~ −8.3%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Rectangle 18"/>
          <p:cNvSpPr/>
          <p:nvPr/>
        </p:nvSpPr>
        <p:spPr>
          <a:xfrm>
            <a:off x="6126480" y="315468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56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19"/>
          <p:cNvSpPr/>
          <p:nvPr/>
        </p:nvSpPr>
        <p:spPr>
          <a:xfrm>
            <a:off x="6263640" y="3200400"/>
            <a:ext cx="219420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A356E"/>
                </a:solidFill>
                <a:latin typeface="맑은 고딕"/>
              </a:rPr>
              <a:t>+ </a:t>
            </a:r>
            <a:r>
              <a:rPr lang="ko-KR" sz="1500" b="1" strike="noStrike" spc="-1">
                <a:solidFill>
                  <a:srgbClr val="1A356E"/>
                </a:solidFill>
                <a:latin typeface="맑은 고딕"/>
              </a:rPr>
              <a:t>분류기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9" name="TextBox 20"/>
          <p:cNvSpPr/>
          <p:nvPr/>
        </p:nvSpPr>
        <p:spPr>
          <a:xfrm>
            <a:off x="6263640" y="3703320"/>
            <a:ext cx="2285640" cy="48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100ms 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레짐 루프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적응형 전략 전환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TextBox 21"/>
          <p:cNvSpPr/>
          <p:nvPr/>
        </p:nvSpPr>
        <p:spPr>
          <a:xfrm>
            <a:off x="8686800" y="342900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1A356E"/>
                </a:solidFill>
                <a:latin typeface="Calibri"/>
              </a:rPr>
              <a:t>−1.1 ~ −18.8%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1" name="Rectangle 22"/>
          <p:cNvSpPr/>
          <p:nvPr/>
        </p:nvSpPr>
        <p:spPr>
          <a:xfrm>
            <a:off x="6126480" y="4572000"/>
            <a:ext cx="5486040" cy="1234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23"/>
          <p:cNvSpPr/>
          <p:nvPr/>
        </p:nvSpPr>
        <p:spPr>
          <a:xfrm>
            <a:off x="6263640" y="4617720"/>
            <a:ext cx="219420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ko-KR" sz="1500" b="1" strike="noStrike" spc="-1">
                <a:solidFill>
                  <a:srgbClr val="ED7D31"/>
                </a:solidFill>
                <a:latin typeface="맑은 고딕"/>
              </a:rPr>
              <a:t>분류기 기여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ko-KR" sz="1500" b="1" strike="noStrike" spc="-1">
                <a:solidFill>
                  <a:srgbClr val="ED7D31"/>
                </a:solidFill>
                <a:latin typeface="맑은 고딕"/>
              </a:rPr>
              <a:t>비율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3" name="TextBox 24"/>
          <p:cNvSpPr/>
          <p:nvPr/>
        </p:nvSpPr>
        <p:spPr>
          <a:xfrm>
            <a:off x="6263640" y="51206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전체 </a:t>
            </a:r>
            <a:r>
              <a:rPr lang="en-US" sz="1300" b="0" strike="noStrike" spc="-1">
                <a:solidFill>
                  <a:srgbClr val="404040"/>
                </a:solidFill>
                <a:latin typeface="맑은 고딕"/>
              </a:rPr>
              <a:t>Orion_Full </a:t>
            </a:r>
            <a:r>
              <a:rPr lang="ko-KR" sz="1300" b="0" strike="noStrike" spc="-1">
                <a:solidFill>
                  <a:srgbClr val="404040"/>
                </a:solidFill>
                <a:latin typeface="맑은 고딕"/>
              </a:rPr>
              <a:t>이득 대비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TextBox 25"/>
          <p:cNvSpPr/>
          <p:nvPr/>
        </p:nvSpPr>
        <p:spPr>
          <a:xfrm>
            <a:off x="8686800" y="4846320"/>
            <a:ext cx="27428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ED7D31"/>
                </a:solidFill>
                <a:latin typeface="Calibri"/>
              </a:rPr>
              <a:t>21 – 76%</a:t>
            </a:r>
            <a:endParaRPr lang="en-US" sz="22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레짐별 실무 처방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두 비율로 배포 전 즉시 계산 가능 — 전수 탐색 불필요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8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5"/>
          <p:cNvSpPr/>
          <p:nvPr/>
        </p:nvSpPr>
        <p:spPr>
          <a:xfrm>
            <a:off x="182880" y="6556320"/>
            <a:ext cx="914364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 dirty="0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0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9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Rectangle 7"/>
          <p:cNvSpPr/>
          <p:nvPr/>
        </p:nvSpPr>
        <p:spPr>
          <a:xfrm>
            <a:off x="27432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ED7D3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Rectangle 8"/>
          <p:cNvSpPr/>
          <p:nvPr/>
        </p:nvSpPr>
        <p:spPr>
          <a:xfrm>
            <a:off x="274320" y="1143000"/>
            <a:ext cx="3794400" cy="50256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9"/>
          <p:cNvSpPr/>
          <p:nvPr/>
        </p:nvSpPr>
        <p:spPr>
          <a:xfrm>
            <a:off x="36576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맑은 고딕"/>
              </a:rPr>
              <a:t>① </a:t>
            </a:r>
            <a:r>
              <a:rPr lang="ko-KR" sz="1300" b="1" strike="noStrike" spc="-1">
                <a:solidFill>
                  <a:srgbClr val="FFFFFF"/>
                </a:solidFill>
                <a:latin typeface="맑은 고딕"/>
              </a:rPr>
              <a:t>용량 제한  </a:t>
            </a:r>
            <a:r>
              <a:rPr lang="en-US" sz="1300" b="1" strike="noStrike" spc="-1">
                <a:solidFill>
                  <a:srgbClr val="FFFFFF"/>
                </a:solidFill>
                <a:latin typeface="맑은 고딕"/>
              </a:rPr>
              <a:t>(Rᴄ &lt; 0.50)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TextBox 10"/>
          <p:cNvSpPr/>
          <p:nvPr/>
        </p:nvSpPr>
        <p:spPr>
          <a:xfrm>
            <a:off x="365760" y="1691640"/>
            <a:ext cx="3611520" cy="136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↑ HBM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용량 증설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배치 크기 감소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가중치 양자화로 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W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축소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✗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추가 협조 오버헤드 효과 없음 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(≤ 5%)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θᴄ = 0.50 (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하드웨어 독립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,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오차 ≤ 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2.4%)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5" name="Rectangle 11"/>
          <p:cNvSpPr/>
          <p:nvPr/>
        </p:nvSpPr>
        <p:spPr>
          <a:xfrm>
            <a:off x="425196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3786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Rectangle 12"/>
          <p:cNvSpPr/>
          <p:nvPr/>
        </p:nvSpPr>
        <p:spPr>
          <a:xfrm>
            <a:off x="4251960" y="1143000"/>
            <a:ext cx="3794400" cy="502560"/>
          </a:xfrm>
          <a:prstGeom prst="rect">
            <a:avLst/>
          </a:prstGeom>
          <a:solidFill>
            <a:srgbClr val="3786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13"/>
          <p:cNvSpPr/>
          <p:nvPr/>
        </p:nvSpPr>
        <p:spPr>
          <a:xfrm>
            <a:off x="434340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맑은 고딕"/>
              </a:rPr>
              <a:t>② </a:t>
            </a:r>
            <a:r>
              <a:rPr lang="ko-KR" sz="1300" b="1" strike="noStrike" spc="-1">
                <a:solidFill>
                  <a:srgbClr val="FFFFFF"/>
                </a:solidFill>
                <a:latin typeface="맑은 고딕"/>
              </a:rPr>
              <a:t>조율 주도  </a:t>
            </a:r>
            <a:r>
              <a:rPr lang="en-US" sz="1300" b="1" strike="noStrike" spc="-1">
                <a:solidFill>
                  <a:srgbClr val="FFFFFF"/>
                </a:solidFill>
                <a:latin typeface="맑은 고딕"/>
              </a:rPr>
              <a:t>(Rᴄ ≥ 0.50, Rʙ ≥ 0.40)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8" name="TextBox 14"/>
          <p:cNvSpPr/>
          <p:nvPr/>
        </p:nvSpPr>
        <p:spPr>
          <a:xfrm>
            <a:off x="4343400" y="1691640"/>
            <a:ext cx="3611520" cy="136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↑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파이프라이닝 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+ KV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캐시 관리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↑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계산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-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전송 오버랩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↑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지연 동기화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18–27%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지연 감소 달성 가능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FlexGen / vLLM / Orion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의 설계 목표 레짐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9" name="Rectangle 15"/>
          <p:cNvSpPr/>
          <p:nvPr/>
        </p:nvSpPr>
        <p:spPr>
          <a:xfrm>
            <a:off x="8229600" y="1143000"/>
            <a:ext cx="3794400" cy="502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C000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ectangle 16"/>
          <p:cNvSpPr/>
          <p:nvPr/>
        </p:nvSpPr>
        <p:spPr>
          <a:xfrm>
            <a:off x="8229600" y="1143000"/>
            <a:ext cx="3794400" cy="50256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17"/>
          <p:cNvSpPr/>
          <p:nvPr/>
        </p:nvSpPr>
        <p:spPr>
          <a:xfrm>
            <a:off x="8321040" y="1161360"/>
            <a:ext cx="361152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FFFFFF"/>
                </a:solidFill>
                <a:latin typeface="맑은 고딕"/>
              </a:rPr>
              <a:t>③ I/O </a:t>
            </a:r>
            <a:r>
              <a:rPr lang="ko-KR" sz="1300" b="1" strike="noStrike" spc="-1">
                <a:solidFill>
                  <a:srgbClr val="FFFFFF"/>
                </a:solidFill>
                <a:latin typeface="맑은 고딕"/>
              </a:rPr>
              <a:t>제한  </a:t>
            </a:r>
            <a:r>
              <a:rPr lang="en-US" sz="1300" b="1" strike="noStrike" spc="-1">
                <a:solidFill>
                  <a:srgbClr val="FFFFFF"/>
                </a:solidFill>
                <a:latin typeface="맑은 고딕"/>
              </a:rPr>
              <a:t>(Rʙ &lt; 0.40)</a:t>
            </a:r>
            <a:endParaRPr lang="en-US" sz="13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2" name="TextBox 18"/>
          <p:cNvSpPr/>
          <p:nvPr/>
        </p:nvSpPr>
        <p:spPr>
          <a:xfrm>
            <a:off x="8321040" y="1691640"/>
            <a:ext cx="3611520" cy="157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전송량 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D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자체를 줄여야 함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더 작은 스와핑 단위 적용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↓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선택적 레이어 오프로딩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✗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공격적 오프로딩은 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8–12% 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악화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  θʙ = R_B_sat × (1 + α_wb + α_q)  (</a:t>
            </a:r>
            <a:r>
              <a:rPr lang="ko-KR" sz="1400" b="0" strike="noStrike" spc="-1">
                <a:solidFill>
                  <a:srgbClr val="404040"/>
                </a:solidFill>
                <a:latin typeface="Calibri"/>
              </a:rPr>
              <a:t>오차 ≤ </a:t>
            </a:r>
            <a:r>
              <a:rPr lang="en-US" sz="1400" b="0" strike="noStrike" spc="-1">
                <a:solidFill>
                  <a:srgbClr val="404040"/>
                </a:solidFill>
                <a:latin typeface="Calibri"/>
              </a:rPr>
              <a:t>4.7%)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0" y="0"/>
            <a:ext cx="12188520" cy="10054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2"/>
          <p:cNvSpPr/>
          <p:nvPr/>
        </p:nvSpPr>
        <p:spPr>
          <a:xfrm>
            <a:off x="228600" y="91440"/>
            <a:ext cx="91436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2800" b="1" strike="noStrike" spc="-1">
                <a:solidFill>
                  <a:srgbClr val="FFFFFF"/>
                </a:solidFill>
                <a:latin typeface="Calibri"/>
              </a:rPr>
              <a:t>한계 및 향후 연구 방향</a:t>
            </a:r>
            <a:endParaRPr lang="en-US" sz="2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5" name="TextBox 3"/>
          <p:cNvSpPr/>
          <p:nvPr/>
        </p:nvSpPr>
        <p:spPr>
          <a:xfrm>
            <a:off x="228600" y="658440"/>
            <a:ext cx="9143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600" b="0" strike="noStrike" spc="-1">
                <a:solidFill>
                  <a:srgbClr val="BDD7EE"/>
                </a:solidFill>
                <a:latin typeface="Calibri"/>
              </a:rPr>
              <a:t>알려진 제약과 열린 문제들</a:t>
            </a:r>
            <a:endParaRPr lang="en-US" sz="1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6" name="Rectangle 4"/>
          <p:cNvSpPr/>
          <p:nvPr/>
        </p:nvSpPr>
        <p:spPr>
          <a:xfrm>
            <a:off x="0" y="6537960"/>
            <a:ext cx="12188520" cy="31968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5"/>
          <p:cNvSpPr/>
          <p:nvPr/>
        </p:nvSpPr>
        <p:spPr>
          <a:xfrm>
            <a:off x="182880" y="6556320"/>
            <a:ext cx="9143640" cy="260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FFFFFF"/>
                </a:solidFill>
                <a:latin typeface="Calibri"/>
              </a:rPr>
              <a:t>ORION </a:t>
            </a:r>
            <a:r>
              <a:rPr lang="ko-KR" sz="1100" b="0" strike="noStrike" spc="-1" dirty="0">
                <a:solidFill>
                  <a:srgbClr val="FFFFFF"/>
                </a:solidFill>
                <a:latin typeface="Calibri"/>
              </a:rPr>
              <a:t>프로젝트  </a:t>
            </a:r>
            <a:endParaRPr lang="en-US" sz="11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TextBox 6"/>
          <p:cNvSpPr/>
          <p:nvPr/>
        </p:nvSpPr>
        <p:spPr>
          <a:xfrm>
            <a:off x="11640240" y="6556320"/>
            <a:ext cx="456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</a:rPr>
              <a:t>10</a:t>
            </a:r>
            <a:endParaRPr lang="en-US" sz="11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TextBox 7"/>
          <p:cNvSpPr/>
          <p:nvPr/>
        </p:nvSpPr>
        <p:spPr>
          <a:xfrm>
            <a:off x="365760" y="1188720"/>
            <a:ext cx="11429640" cy="23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분류기 정확도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(93.4%)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는 동일 분포 내 결과 — 신규 하드웨어에 대한 일반화 미검증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다중 노드 클러스터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: 4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노드 실험에서 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ΔθB ≈ +0.05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관측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;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전체 특성 규명 필요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MoE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모델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: W_eff = W_param × (k/N_exp) + W_act + W_kv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가 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Rᴄ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를 상향 이동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;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모델별 분류 필요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추측 디코딩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: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초안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·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목표 모델이 다른 레짐에 동시 존재할 수 있어 충돌하는 최적 전략 발생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경계 통과 시 히스테리시스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(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레짐 메모리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)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현상 관측 — 이론적 규명 및 스케줄링 활용 미해결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T_sync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하한 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T_sync_min = K·c_o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해석적 유도 미완성 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(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향후 과제 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C1)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  • θᴄ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예측 오차 ≤ 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2.4%; θʙ ≤ 4.7% (PCIe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기반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); </a:t>
            </a:r>
            <a:r>
              <a:rPr lang="ko-KR" sz="1800" b="0" strike="noStrike" spc="-1">
                <a:solidFill>
                  <a:srgbClr val="404040"/>
                </a:solidFill>
                <a:latin typeface="Calibri"/>
              </a:rPr>
              <a:t>전용 인터커넥트는 더 큰 오차 </a:t>
            </a:r>
            <a:r>
              <a:rPr lang="en-US" sz="1800" b="0" strike="noStrike" spc="-1">
                <a:solidFill>
                  <a:srgbClr val="404040"/>
                </a:solidFill>
                <a:latin typeface="Calibri"/>
              </a:rPr>
              <a:t>(Inferentia2: ~12.4%)</a:t>
            </a:r>
            <a:endParaRPr lang="en-US" sz="18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Rectangle 8"/>
          <p:cNvSpPr/>
          <p:nvPr/>
        </p:nvSpPr>
        <p:spPr>
          <a:xfrm>
            <a:off x="365760" y="5394960"/>
            <a:ext cx="11429640" cy="1142640"/>
          </a:xfrm>
          <a:prstGeom prst="rect">
            <a:avLst/>
          </a:prstGeom>
          <a:solidFill>
            <a:srgbClr val="E2EFD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9"/>
          <p:cNvSpPr/>
          <p:nvPr/>
        </p:nvSpPr>
        <p:spPr>
          <a:xfrm>
            <a:off x="548640" y="5440680"/>
            <a:ext cx="109724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500" b="1" strike="noStrike" spc="-1">
                <a:solidFill>
                  <a:srgbClr val="378644"/>
                </a:solidFill>
                <a:latin typeface="맑은 고딕"/>
              </a:rPr>
              <a:t>핵심 통찰 — 기술 발전이 레짐 구조를 제거하지 않는다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2" name="TextBox 10"/>
          <p:cNvSpPr/>
          <p:nvPr/>
        </p:nvSpPr>
        <p:spPr>
          <a:xfrm>
            <a:off x="548640" y="576072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HBM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확장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, CXL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풀링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,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분산 메모리는 경계를 이동시키지만 상전이 구조를 없애지 않는다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지속 대역폭 한계에 도달하는 순간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,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절대적인 용량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·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대역폭 값과 무관하게 지배 항이 불연속적으로 변한다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A35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Rectangle 2"/>
          <p:cNvSpPr/>
          <p:nvPr/>
        </p:nvSpPr>
        <p:spPr>
          <a:xfrm>
            <a:off x="0" y="5486400"/>
            <a:ext cx="12188520" cy="13712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548640" y="274320"/>
            <a:ext cx="10972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3600" b="1" strike="noStrike" spc="-1">
                <a:solidFill>
                  <a:srgbClr val="FFFFFF"/>
                </a:solidFill>
                <a:latin typeface="맑은 고딕"/>
              </a:rPr>
              <a:t>결론 요약</a:t>
            </a:r>
            <a:endParaRPr lang="en-US" sz="36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6" name="Rectangle 4"/>
          <p:cNvSpPr/>
          <p:nvPr/>
        </p:nvSpPr>
        <p:spPr>
          <a:xfrm>
            <a:off x="457200" y="10972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ectangle 5"/>
          <p:cNvSpPr/>
          <p:nvPr/>
        </p:nvSpPr>
        <p:spPr>
          <a:xfrm>
            <a:off x="457200" y="10972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6"/>
          <p:cNvSpPr/>
          <p:nvPr/>
        </p:nvSpPr>
        <p:spPr>
          <a:xfrm>
            <a:off x="685800" y="1188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700" b="1" strike="noStrike" spc="-1">
                <a:solidFill>
                  <a:srgbClr val="1A356E"/>
                </a:solidFill>
                <a:latin typeface="맑은 고딕"/>
              </a:rPr>
              <a:t>세 가지 내재적 레짐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685800" y="15544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용량 제한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/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조율 주도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/ I/O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제한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—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급격한 상전이 유사 전환으로 분리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0" name="Rectangle 8"/>
          <p:cNvSpPr/>
          <p:nvPr/>
        </p:nvSpPr>
        <p:spPr>
          <a:xfrm>
            <a:off x="457200" y="29260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457200" y="29260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10"/>
          <p:cNvSpPr/>
          <p:nvPr/>
        </p:nvSpPr>
        <p:spPr>
          <a:xfrm>
            <a:off x="685800" y="30175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700" b="1" strike="noStrike" spc="-1">
                <a:solidFill>
                  <a:srgbClr val="1A356E"/>
                </a:solidFill>
                <a:latin typeface="맑은 고딕"/>
              </a:rPr>
              <a:t>두 개의 계산 가능한 비율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685800" y="33832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Rᴄ = Cfast/W,  Rʙ = Bslow·Δt/D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—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실험 전 데이터시트로 사전 계산 가능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4" name="Rectangle 12"/>
          <p:cNvSpPr/>
          <p:nvPr/>
        </p:nvSpPr>
        <p:spPr>
          <a:xfrm>
            <a:off x="6217920" y="10972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Rectangle 13"/>
          <p:cNvSpPr/>
          <p:nvPr/>
        </p:nvSpPr>
        <p:spPr>
          <a:xfrm>
            <a:off x="6217920" y="10972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6446520" y="11887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700" b="1" strike="noStrike" spc="-1">
                <a:solidFill>
                  <a:srgbClr val="1A356E"/>
                </a:solidFill>
                <a:latin typeface="맑은 고딕"/>
              </a:rPr>
              <a:t>전략 순위 완전 역전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6446520" y="15544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FlexGen −24% → +8–12%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경계 통과 시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—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레짐 무시 설계는 구조적으로 불완전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Rectangle 16"/>
          <p:cNvSpPr/>
          <p:nvPr/>
        </p:nvSpPr>
        <p:spPr>
          <a:xfrm>
            <a:off x="6217920" y="2926080"/>
            <a:ext cx="5486040" cy="1554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ectangle 17"/>
          <p:cNvSpPr/>
          <p:nvPr/>
        </p:nvSpPr>
        <p:spPr>
          <a:xfrm>
            <a:off x="6217920" y="2926080"/>
            <a:ext cx="109440" cy="155412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6446520" y="3017520"/>
            <a:ext cx="512028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sz="1700" b="1" strike="noStrike" spc="-1">
                <a:solidFill>
                  <a:srgbClr val="1A356E"/>
                </a:solidFill>
                <a:latin typeface="맑은 고딕"/>
              </a:rPr>
              <a:t>하한의 </a:t>
            </a:r>
            <a:r>
              <a:rPr lang="en-US" sz="1700" b="1" strike="noStrike" spc="-1">
                <a:solidFill>
                  <a:srgbClr val="1A356E"/>
                </a:solidFill>
                <a:latin typeface="맑은 고딕"/>
              </a:rPr>
              <a:t>86–92% </a:t>
            </a:r>
            <a:r>
              <a:rPr lang="ko-KR" sz="1700" b="1" strike="noStrike" spc="-1">
                <a:solidFill>
                  <a:srgbClr val="1A356E"/>
                </a:solidFill>
                <a:latin typeface="맑은 고딕"/>
              </a:rPr>
              <a:t>달성</a:t>
            </a:r>
            <a:endParaRPr lang="en-US" sz="17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1" name="TextBox 19"/>
          <p:cNvSpPr/>
          <p:nvPr/>
        </p:nvSpPr>
        <p:spPr>
          <a:xfrm>
            <a:off x="6446520" y="3383280"/>
            <a:ext cx="51202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5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개 플랫폼에서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Orion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검증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— 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잔여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8–14%</a:t>
            </a:r>
            <a:r>
              <a:rPr lang="ko-KR" sz="1400" b="0" strike="noStrike" spc="-1">
                <a:solidFill>
                  <a:srgbClr val="404040"/>
                </a:solidFill>
                <a:latin typeface="맑은 고딕"/>
              </a:rPr>
              <a:t>는 줄일 수 없는 </a:t>
            </a:r>
            <a:r>
              <a:rPr lang="en-US" sz="1400" b="0" strike="noStrike" spc="-1">
                <a:solidFill>
                  <a:srgbClr val="404040"/>
                </a:solidFill>
                <a:latin typeface="맑은 고딕"/>
              </a:rPr>
              <a:t>T_sync</a:t>
            </a:r>
            <a:endParaRPr lang="en-US" sz="1400" b="0" strike="noStrike" spc="-1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2" name="TextBox 20"/>
          <p:cNvSpPr/>
          <p:nvPr/>
        </p:nvSpPr>
        <p:spPr>
          <a:xfrm>
            <a:off x="365760" y="5623560"/>
            <a:ext cx="1142964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500" b="1" strike="noStrike" spc="-1">
                <a:solidFill>
                  <a:srgbClr val="FFFFFF"/>
                </a:solidFill>
                <a:latin typeface="맑은 고딕"/>
              </a:rPr>
              <a:t>"</a:t>
            </a:r>
            <a:r>
              <a:rPr lang="ko-KR" sz="1500" b="1" strike="noStrike" spc="-1">
                <a:solidFill>
                  <a:srgbClr val="FFFFFF"/>
                </a:solidFill>
                <a:latin typeface="맑은 고딕"/>
              </a:rPr>
              <a:t>메모리 병목 추론 시스템에서 가장 먼저 물어야 할 질문은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FFFFFF"/>
                </a:solidFill>
                <a:latin typeface="맑은 고딕"/>
              </a:rPr>
              <a:t>'</a:t>
            </a:r>
            <a:r>
              <a:rPr lang="ko-KR" sz="1500" b="1" strike="noStrike" spc="-1">
                <a:solidFill>
                  <a:srgbClr val="FFFFFF"/>
                </a:solidFill>
                <a:latin typeface="맑은 고딕"/>
              </a:rPr>
              <a:t>협조를 얼마나 더 추가할까</a:t>
            </a:r>
            <a:r>
              <a:rPr lang="en-US" sz="1500" b="1" strike="noStrike" spc="-1">
                <a:solidFill>
                  <a:srgbClr val="FFFFFF"/>
                </a:solidFill>
                <a:latin typeface="맑은 고딕"/>
              </a:rPr>
              <a:t>?'</a:t>
            </a:r>
            <a:r>
              <a:rPr lang="ko-KR" sz="1500" b="1" strike="noStrike" spc="-1">
                <a:solidFill>
                  <a:srgbClr val="FFFFFF"/>
                </a:solidFill>
                <a:latin typeface="맑은 고딕"/>
              </a:rPr>
              <a:t>가 아니라 </a:t>
            </a:r>
            <a:r>
              <a:rPr lang="en-US" sz="1500" b="1" strike="noStrike" spc="-1">
                <a:solidFill>
                  <a:srgbClr val="FFFFFF"/>
                </a:solidFill>
                <a:latin typeface="맑은 고딕"/>
              </a:rPr>
              <a:t>'</a:t>
            </a:r>
            <a:r>
              <a:rPr lang="ko-KR" sz="1500" b="1" strike="noStrike" spc="-1">
                <a:solidFill>
                  <a:srgbClr val="FFFFFF"/>
                </a:solidFill>
                <a:latin typeface="맑은 고딕"/>
              </a:rPr>
              <a:t>현재 시스템은 어느 레짐에서 운영되고 있는가</a:t>
            </a:r>
            <a:r>
              <a:rPr lang="en-US" sz="1500" b="1" strike="noStrike" spc="-1">
                <a:solidFill>
                  <a:srgbClr val="FFFFFF"/>
                </a:solidFill>
                <a:latin typeface="맑은 고딕"/>
              </a:rPr>
              <a:t>?'</a:t>
            </a:r>
            <a:r>
              <a:rPr lang="ko-KR" sz="1500" b="1" strike="noStrike" spc="-1">
                <a:solidFill>
                  <a:srgbClr val="FFFFFF"/>
                </a:solidFill>
                <a:latin typeface="맑은 고딕"/>
              </a:rPr>
              <a:t>이다</a:t>
            </a:r>
            <a:r>
              <a:rPr lang="en-US" sz="1500" b="1" strike="noStrike" spc="-1">
                <a:solidFill>
                  <a:srgbClr val="FFFFFF"/>
                </a:solidFill>
                <a:latin typeface="맑은 고딕"/>
              </a:rPr>
              <a:t>."</a:t>
            </a:r>
            <a:endParaRPr lang="en-US" sz="1500" b="0" strike="noStrike" spc="-1">
              <a:solidFill>
                <a:srgbClr val="000000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1564</Words>
  <Application>Microsoft Office PowerPoint</Application>
  <PresentationFormat>사용자 지정</PresentationFormat>
  <Paragraphs>232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11</vt:i4>
      </vt:variant>
      <vt:variant>
        <vt:lpstr>슬라이드 제목</vt:lpstr>
      </vt:variant>
      <vt:variant>
        <vt:i4>11</vt:i4>
      </vt:variant>
    </vt:vector>
  </HeadingPairs>
  <TitlesOfParts>
    <vt:vector size="29" baseType="lpstr">
      <vt:lpstr>Noto Sans CJK KR</vt:lpstr>
      <vt:lpstr>Noto Serif CJK KR</vt:lpstr>
      <vt:lpstr>맑은 고딕</vt:lpstr>
      <vt:lpstr>Arial</vt:lpstr>
      <vt:lpstr>Calibri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dc:description>generated using python-pptx</dc:description>
  <cp:lastModifiedBy>eemgs l</cp:lastModifiedBy>
  <cp:revision>4</cp:revision>
  <dcterms:created xsi:type="dcterms:W3CDTF">2013-01-27T09:14:16Z</dcterms:created>
  <dcterms:modified xsi:type="dcterms:W3CDTF">2026-06-29T00:55:21Z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