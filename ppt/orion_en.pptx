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</p:sld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</p:sldIdLst>
  <p:sldSz cx="12188825" cy="6858000"/>
  <p:notesSz cx="7559675" cy="106918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138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2.xml"/><Relationship Id="rId18" Type="http://schemas.openxmlformats.org/officeDocument/2006/relationships/slide" Target="slides/slide7.xml"/><Relationship Id="rId26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0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1.xml"/><Relationship Id="rId17" Type="http://schemas.openxmlformats.org/officeDocument/2006/relationships/slide" Target="slides/slide6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5.xml"/><Relationship Id="rId20" Type="http://schemas.openxmlformats.org/officeDocument/2006/relationships/slide" Target="slides/slide9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4.xml"/><Relationship Id="rId23" Type="http://schemas.openxmlformats.org/officeDocument/2006/relationships/slide" Target="slides/slide12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8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3.xml"/><Relationship Id="rId22" Type="http://schemas.openxmlformats.org/officeDocument/2006/relationships/slide" Target="slides/slide1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3BED7D82-16C1-4A5E-8D8F-A3DBB76E2B6E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E550C5B-598E-45BF-A3D6-AEE673DA7BFB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71ED14AB-C654-4128-8F4E-05FAE158029A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19737C8-861B-4AF9-9AE5-C02DE8CEDF7E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4C0A581E-9DF2-42E8-B132-10B9FE7770FD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F62AD23A-BA72-45BB-A4F4-73790B3AFFB3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DE400DBE-2D3B-4C1C-B48D-7D4007A37802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7493401-B5DB-4EAF-A680-00C8034629CB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E5D2A659-828D-4B58-A5F1-B9BC6EDAD55E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FEEF22C5-7FA0-4BDE-ADCE-ECA876C16B1F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lstStyle/>
          <a:p>
            <a:fld id="{0A2FF3B0-7E76-4E27-B9BD-EF71BF2B1F56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&lt;날짜/시간&gt;</a:t>
            </a:r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KR"/>
              </a:rPr>
              <a:t>&lt;바닥글&gt;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7BFC73C-6E9D-41AE-AF1B-FA7CC832D027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&lt;날짜/시간&gt;</a:t>
            </a:r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KR"/>
              </a:rPr>
              <a:t>&lt;바닥글&gt;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57768DA-E5F0-4711-9D38-5759DC1B3FB9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&lt;날짜/시간&gt;</a:t>
            </a:r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KR"/>
              </a:rPr>
              <a:t>&lt;바닥글&gt;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47CFB64-DC90-4498-B090-89CF4794F4A9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&lt;날짜/시간&gt;</a:t>
            </a:r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KR"/>
              </a:rPr>
              <a:t>&lt;바닥글&gt;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FDE4D59-B4CA-4EDE-8308-D22939D4B192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4000" b="1" strike="noStrike" cap="all" spc="-1">
                <a:solidFill>
                  <a:schemeClr val="dk1"/>
                </a:solidFill>
                <a:latin typeface="Calibri"/>
              </a:rPr>
              <a:t>Click to edit Master title style</a:t>
            </a:r>
            <a:endParaRPr lang="en-US" sz="4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&lt;날짜/시간&gt;</a:t>
            </a:r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KR"/>
              </a:rPr>
              <a:t>&lt;바닥글&gt;</a:t>
            </a: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3E22377-E611-4031-B970-D36CEEC8F0A0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&lt;날짜/시간&gt;</a:t>
            </a:r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KR"/>
              </a:rPr>
              <a:t>&lt;바닥글&gt;</a:t>
            </a: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27793E8-1F52-4868-B15A-3766E9A0C2C4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&lt;날짜/시간&gt;</a:t>
            </a:r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KR"/>
              </a:rPr>
              <a:t>&lt;바닥글&gt;</a:t>
            </a: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67BAF9A-091B-4BEE-ABF3-9EE4F4826C68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&lt;날짜/시간&gt;</a:t>
            </a:r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KR"/>
              </a:rPr>
              <a:t>&lt;바닥글&gt;</a:t>
            </a: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AE7D505-900A-4428-BBAF-7DE6C1787D2C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&lt;날짜/시간&gt;</a:t>
            </a:r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KR"/>
              </a:rPr>
              <a:t>&lt;바닥글&gt;</a:t>
            </a: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9FEFDD1-5F13-4B09-81F9-B9D81EDDD41F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ko-KR" sz="1800" b="0" strike="noStrike" spc="-1">
                <a:solidFill>
                  <a:schemeClr val="dk1"/>
                </a:solidFill>
                <a:latin typeface="Calibri"/>
              </a:rPr>
              <a:t>제목 텍스트의 서식을 편집하려면 클릭하십시오</a:t>
            </a: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.</a:t>
            </a: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strike="noStrike" spc="-1">
                <a:solidFill>
                  <a:schemeClr val="dk1"/>
                </a:solidFill>
                <a:latin typeface="Calibri"/>
              </a:rPr>
              <a:t>개요 텍스트의 서식을 편집하려면 클릭하십시오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2</a:t>
            </a:r>
            <a:r>
              <a:rPr lang="ko-KR" sz="2400" b="0" strike="noStrike" spc="-1">
                <a:solidFill>
                  <a:schemeClr val="dk1"/>
                </a:solidFill>
                <a:latin typeface="Calibri"/>
              </a:rPr>
              <a:t>번째 개요 수준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3</a:t>
            </a:r>
            <a:r>
              <a:rPr lang="ko-KR" sz="2000" b="0" strike="noStrike" spc="-1">
                <a:solidFill>
                  <a:schemeClr val="dk1"/>
                </a:solidFill>
                <a:latin typeface="Calibri"/>
              </a:rPr>
              <a:t>번째 개요 수준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4</a:t>
            </a:r>
            <a:r>
              <a:rPr lang="ko-KR" sz="2000" b="0" strike="noStrike" spc="-1">
                <a:solidFill>
                  <a:schemeClr val="dk1"/>
                </a:solidFill>
                <a:latin typeface="Calibri"/>
              </a:rPr>
              <a:t>번째 개요 수준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5</a:t>
            </a:r>
            <a:r>
              <a:rPr lang="ko-KR" sz="2000" b="0" strike="noStrike" spc="-1">
                <a:solidFill>
                  <a:schemeClr val="dk1"/>
                </a:solidFill>
                <a:latin typeface="Calibri"/>
              </a:rPr>
              <a:t>번째 개요 수준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6</a:t>
            </a:r>
            <a:r>
              <a:rPr lang="ko-KR" sz="2000" b="0" strike="noStrike" spc="-1">
                <a:solidFill>
                  <a:schemeClr val="dk1"/>
                </a:solidFill>
                <a:latin typeface="Calibri"/>
              </a:rPr>
              <a:t>번째 개요 수준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7</a:t>
            </a:r>
            <a:r>
              <a:rPr lang="ko-KR" sz="2000" b="0" strike="noStrike" spc="-1">
                <a:solidFill>
                  <a:schemeClr val="dk1"/>
                </a:solidFill>
                <a:latin typeface="Calibri"/>
              </a:rPr>
              <a:t>번째 개요 수준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&lt;날짜/시간&gt;</a:t>
            </a:r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KR"/>
              </a:rPr>
              <a:t>&lt;바닥글&gt;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248F7BA-BBDE-454A-97AB-9732AEB671C5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strike="noStrike" spc="-1">
                <a:solidFill>
                  <a:schemeClr val="dk1"/>
                </a:solidFill>
                <a:latin typeface="Calibri"/>
              </a:rPr>
              <a:t>개요 텍스트의 서식을 편집하려면 클릭하십시오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2</a:t>
            </a:r>
            <a:r>
              <a:rPr lang="ko-KR" sz="3200" b="0" strike="noStrike" spc="-1">
                <a:solidFill>
                  <a:schemeClr val="dk1"/>
                </a:solidFill>
                <a:latin typeface="Calibri"/>
              </a:rPr>
              <a:t>번째 개요 수준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3</a:t>
            </a:r>
            <a:r>
              <a:rPr lang="ko-KR" sz="3200" b="0" strike="noStrike" spc="-1">
                <a:solidFill>
                  <a:schemeClr val="dk1"/>
                </a:solidFill>
                <a:latin typeface="Calibri"/>
              </a:rPr>
              <a:t>번째 개요 수준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4</a:t>
            </a:r>
            <a:r>
              <a:rPr lang="ko-KR" sz="3200" b="0" strike="noStrike" spc="-1">
                <a:solidFill>
                  <a:schemeClr val="dk1"/>
                </a:solidFill>
                <a:latin typeface="Calibri"/>
              </a:rPr>
              <a:t>번째 개요 수준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5</a:t>
            </a:r>
            <a:r>
              <a:rPr lang="ko-KR" sz="3200" b="0" strike="noStrike" spc="-1">
                <a:solidFill>
                  <a:schemeClr val="dk1"/>
                </a:solidFill>
                <a:latin typeface="Calibri"/>
              </a:rPr>
              <a:t>번째 개요 수준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6</a:t>
            </a:r>
            <a:r>
              <a:rPr lang="ko-KR" sz="3200" b="0" strike="noStrike" spc="-1">
                <a:solidFill>
                  <a:schemeClr val="dk1"/>
                </a:solidFill>
                <a:latin typeface="Calibri"/>
              </a:rPr>
              <a:t>번째 개요 수준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7</a:t>
            </a:r>
            <a:r>
              <a:rPr lang="ko-KR" sz="3200" b="0" strike="noStrike" spc="-1">
                <a:solidFill>
                  <a:schemeClr val="dk1"/>
                </a:solidFill>
                <a:latin typeface="Calibri"/>
              </a:rPr>
              <a:t>번째 개요 수준</a:t>
            </a: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&lt;날짜/시간&gt;</a:t>
            </a:r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Noto Serif CJK KR"/>
              </a:rPr>
              <a:t>&lt;바닥글&gt;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8F55A0A-FF7E-4EF7-9195-D0DA9C969756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5029200"/>
            <a:ext cx="12188520" cy="182844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548640" y="457200"/>
            <a:ext cx="1097244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5400" b="1" strike="noStrike" spc="-1">
                <a:solidFill>
                  <a:srgbClr val="FFFFFF"/>
                </a:solidFill>
                <a:latin typeface="Calibri"/>
              </a:rPr>
              <a:t>ORION</a:t>
            </a:r>
            <a:endParaRPr lang="en-US" sz="5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548640" y="1417320"/>
            <a:ext cx="10972440" cy="54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000" b="1" strike="noStrike" spc="-1">
                <a:solidFill>
                  <a:srgbClr val="BDD7EE"/>
                </a:solidFill>
                <a:latin typeface="Calibri"/>
              </a:rPr>
              <a:t>Hierarchical Memory Orchestration in AI Inference</a:t>
            </a:r>
            <a:endParaRPr lang="en-US" sz="30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548640" y="2011680"/>
            <a:ext cx="10972440" cy="54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000" b="0" strike="noStrike" spc="-1">
                <a:solidFill>
                  <a:srgbClr val="BDD7EE"/>
                </a:solidFill>
                <a:latin typeface="Calibri"/>
              </a:rPr>
              <a:t>Exhibits Intrinsic Regime-Dependent Limits</a:t>
            </a:r>
            <a:endParaRPr lang="en-US" sz="30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2" name="Rectangle 6"/>
          <p:cNvSpPr/>
          <p:nvPr/>
        </p:nvSpPr>
        <p:spPr>
          <a:xfrm>
            <a:off x="548640" y="2788920"/>
            <a:ext cx="3657240" cy="37800"/>
          </a:xfrm>
          <a:prstGeom prst="rect">
            <a:avLst/>
          </a:prstGeom>
          <a:solidFill>
            <a:srgbClr val="ED7D3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548640" y="2926080"/>
            <a:ext cx="914364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BDD7EE"/>
                </a:solidFill>
                <a:latin typeface="Calibri"/>
              </a:rPr>
              <a:t>Research Presentation</a:t>
            </a:r>
            <a:endParaRPr lang="en-US" sz="1800" b="0" strike="noStrike" spc="-1" dirty="0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548640" y="3337560"/>
            <a:ext cx="91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strike="noStrike" spc="-1">
                <a:solidFill>
                  <a:srgbClr val="FFFFFF"/>
                </a:solidFill>
                <a:latin typeface="Calibri"/>
              </a:rPr>
              <a:t>Geunsik Lim   </a:t>
            </a: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365760" y="5623560"/>
            <a:ext cx="3657240" cy="2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Rectangle 1"/>
          <p:cNvSpPr/>
          <p:nvPr/>
        </p:nvSpPr>
        <p:spPr>
          <a:xfrm>
            <a:off x="0" y="0"/>
            <a:ext cx="12188520" cy="10054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" name="TextBox 2"/>
          <p:cNvSpPr/>
          <p:nvPr/>
        </p:nvSpPr>
        <p:spPr>
          <a:xfrm>
            <a:off x="22860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strike="noStrike" spc="-1">
                <a:solidFill>
                  <a:srgbClr val="FFFFFF"/>
                </a:solidFill>
                <a:latin typeface="Calibri"/>
              </a:rPr>
              <a:t>Motivation</a:t>
            </a:r>
            <a:endParaRPr lang="en-US" sz="2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9" name="TextBox 3"/>
          <p:cNvSpPr/>
          <p:nvPr/>
        </p:nvSpPr>
        <p:spPr>
          <a:xfrm>
            <a:off x="228600" y="658440"/>
            <a:ext cx="91436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BDD7EE"/>
                </a:solidFill>
                <a:latin typeface="Calibri"/>
              </a:rPr>
              <a:t>Why does memory orchestration matter?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0" name="Rectangle 4"/>
          <p:cNvSpPr/>
          <p:nvPr/>
        </p:nvSpPr>
        <p:spPr>
          <a:xfrm>
            <a:off x="0" y="6537960"/>
            <a:ext cx="12188520" cy="3196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" name="TextBox 5"/>
          <p:cNvSpPr/>
          <p:nvPr/>
        </p:nvSpPr>
        <p:spPr>
          <a:xfrm>
            <a:off x="182880" y="6556320"/>
            <a:ext cx="91436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ORION Project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2" name="TextBox 6"/>
          <p:cNvSpPr/>
          <p:nvPr/>
        </p:nvSpPr>
        <p:spPr>
          <a:xfrm>
            <a:off x="11640240" y="655632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2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3" name="TextBox 7"/>
          <p:cNvSpPr/>
          <p:nvPr/>
        </p:nvSpPr>
        <p:spPr>
          <a:xfrm>
            <a:off x="365760" y="1188720"/>
            <a:ext cx="11429640" cy="173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900" b="0" strike="noStrike" spc="-1">
                <a:solidFill>
                  <a:srgbClr val="404040"/>
                </a:solidFill>
                <a:latin typeface="Calibri"/>
              </a:rPr>
              <a:t>  • Modern LLMs exceed accelerator VRAM → weights spill to host DRAM / NVMe</a:t>
            </a:r>
            <a:endParaRPr lang="en-US" sz="19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900" b="0" strike="noStrike" spc="-1">
                <a:solidFill>
                  <a:srgbClr val="404040"/>
                </a:solidFill>
                <a:latin typeface="Calibri"/>
              </a:rPr>
              <a:t>  • Inference cost now dominates lifetime resource footprint of foundation models</a:t>
            </a:r>
            <a:endParaRPr lang="en-US" sz="19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900" b="0" strike="noStrike" spc="-1">
                <a:solidFill>
                  <a:srgbClr val="404040"/>
                </a:solidFill>
                <a:latin typeface="Calibri"/>
              </a:rPr>
              <a:t>  • Memory bandwidth &amp; capacity — not arithmetic — are the binding constraints</a:t>
            </a:r>
            <a:endParaRPr lang="en-US" sz="19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900" b="0" strike="noStrike" spc="-1">
                <a:solidFill>
                  <a:srgbClr val="404040"/>
                </a:solidFill>
                <a:latin typeface="Calibri"/>
              </a:rPr>
              <a:t>  • I/O-limited operation reduces throughput-per-Watt by &gt; 3× vs. optimal</a:t>
            </a:r>
            <a:endParaRPr lang="en-US" sz="19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900" b="0" strike="noStrike" spc="-1">
                <a:solidFill>
                  <a:srgbClr val="404040"/>
                </a:solidFill>
                <a:latin typeface="Calibri"/>
              </a:rPr>
              <a:t>  • CO₂ penalty: 15.8 g → 42.5 g per 10⁶ tokens at IEA 2024 carbon intensity</a:t>
            </a:r>
            <a:endParaRPr lang="en-US" sz="19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4" name="Rectangle 8"/>
          <p:cNvSpPr/>
          <p:nvPr/>
        </p:nvSpPr>
        <p:spPr>
          <a:xfrm>
            <a:off x="365760" y="3566160"/>
            <a:ext cx="11338200" cy="2559960"/>
          </a:xfrm>
          <a:prstGeom prst="rect">
            <a:avLst/>
          </a:prstGeom>
          <a:solidFill>
            <a:srgbClr val="F2F2F2"/>
          </a:solidFill>
          <a:ln w="12700">
            <a:solidFill>
              <a:srgbClr val="2E75B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" name="TextBox 9"/>
          <p:cNvSpPr/>
          <p:nvPr/>
        </p:nvSpPr>
        <p:spPr>
          <a:xfrm>
            <a:off x="548640" y="3703320"/>
            <a:ext cx="100580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strike="noStrike" spc="-1">
                <a:solidFill>
                  <a:srgbClr val="2E75B6"/>
                </a:solidFill>
                <a:latin typeface="Calibri"/>
              </a:rPr>
              <a:t>Core question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6" name="TextBox 10"/>
          <p:cNvSpPr/>
          <p:nvPr/>
        </p:nvSpPr>
        <p:spPr>
          <a:xfrm>
            <a:off x="548640" y="4114800"/>
            <a:ext cx="10972440" cy="100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2000" b="1" strike="noStrike" spc="-1">
                <a:solidFill>
                  <a:srgbClr val="1A356E"/>
                </a:solidFill>
                <a:latin typeface="Calibri"/>
              </a:rPr>
              <a:t>Is hierarchical memory orchestration a continuously optimisable problem,</a:t>
            </a:r>
            <a:endParaRPr lang="en-US" sz="2000" b="0" strike="noStrike" spc="-1">
              <a:solidFill>
                <a:srgbClr val="000000"/>
              </a:solidFill>
              <a:latin typeface="Noto Sans CJK KR"/>
            </a:endParaRPr>
          </a:p>
          <a:p>
            <a:r>
              <a:rPr lang="en-US" sz="2000" b="1" strike="noStrike" spc="-1">
                <a:solidFill>
                  <a:srgbClr val="1A356E"/>
                </a:solidFill>
                <a:latin typeface="Calibri"/>
              </a:rPr>
              <a:t>or does it admit intrinsic boundaries beyond which additional coordination</a:t>
            </a:r>
            <a:endParaRPr lang="en-US" sz="20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2000" b="1" strike="noStrike" spc="-1">
                <a:solidFill>
                  <a:srgbClr val="1A356E"/>
                </a:solidFill>
                <a:latin typeface="Calibri"/>
              </a:rPr>
              <a:t>cannot improve — and can worsen — end-to-end latency?</a:t>
            </a:r>
            <a:endParaRPr lang="en-US" sz="2000" b="0" strike="noStrike" spc="-1">
              <a:solidFill>
                <a:srgbClr val="000000"/>
              </a:solidFill>
              <a:latin typeface="Noto Sans CJK K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1"/>
          <p:cNvSpPr/>
          <p:nvPr/>
        </p:nvSpPr>
        <p:spPr>
          <a:xfrm>
            <a:off x="0" y="0"/>
            <a:ext cx="12188520" cy="10054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TextBox 2"/>
          <p:cNvSpPr/>
          <p:nvPr/>
        </p:nvSpPr>
        <p:spPr>
          <a:xfrm>
            <a:off x="22860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strike="noStrike" spc="-1">
                <a:solidFill>
                  <a:srgbClr val="FFFFFF"/>
                </a:solidFill>
                <a:latin typeface="Calibri"/>
              </a:rPr>
              <a:t>Three Operational Regimes</a:t>
            </a:r>
            <a:endParaRPr lang="en-US" sz="2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9" name="TextBox 3"/>
          <p:cNvSpPr/>
          <p:nvPr/>
        </p:nvSpPr>
        <p:spPr>
          <a:xfrm>
            <a:off x="228600" y="658440"/>
            <a:ext cx="91436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BDD7EE"/>
                </a:solidFill>
                <a:latin typeface="Calibri"/>
              </a:rPr>
              <a:t>Defined by two dimensionless control ratios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0" name="Rectangle 4"/>
          <p:cNvSpPr/>
          <p:nvPr/>
        </p:nvSpPr>
        <p:spPr>
          <a:xfrm>
            <a:off x="0" y="6537960"/>
            <a:ext cx="12188520" cy="3196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" name="TextBox 5"/>
          <p:cNvSpPr/>
          <p:nvPr/>
        </p:nvSpPr>
        <p:spPr>
          <a:xfrm>
            <a:off x="182880" y="6556320"/>
            <a:ext cx="91436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ORION Project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11640240" y="655632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3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3" name="Rectangle 7"/>
          <p:cNvSpPr/>
          <p:nvPr/>
        </p:nvSpPr>
        <p:spPr>
          <a:xfrm>
            <a:off x="365760" y="1143000"/>
            <a:ext cx="3657240" cy="10054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" name="TextBox 8"/>
          <p:cNvSpPr/>
          <p:nvPr/>
        </p:nvSpPr>
        <p:spPr>
          <a:xfrm>
            <a:off x="365760" y="1234440"/>
            <a:ext cx="36572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Fast-memory residency ratio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5" name="TextBox 9"/>
          <p:cNvSpPr/>
          <p:nvPr/>
        </p:nvSpPr>
        <p:spPr>
          <a:xfrm>
            <a:off x="365760" y="1645920"/>
            <a:ext cx="365724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strike="noStrike" spc="-1">
                <a:solidFill>
                  <a:srgbClr val="FFFFFF"/>
                </a:solidFill>
                <a:latin typeface="Calibri"/>
              </a:rPr>
              <a:t>Rᴄ = Cfast / W</a:t>
            </a:r>
            <a:endParaRPr lang="en-US" sz="22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6" name="Rectangle 10"/>
          <p:cNvSpPr/>
          <p:nvPr/>
        </p:nvSpPr>
        <p:spPr>
          <a:xfrm>
            <a:off x="4297680" y="1143000"/>
            <a:ext cx="3840120" cy="10054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" name="TextBox 11"/>
          <p:cNvSpPr/>
          <p:nvPr/>
        </p:nvSpPr>
        <p:spPr>
          <a:xfrm>
            <a:off x="4297680" y="1234440"/>
            <a:ext cx="384012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Transfer-pressure ratio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8" name="TextBox 12"/>
          <p:cNvSpPr/>
          <p:nvPr/>
        </p:nvSpPr>
        <p:spPr>
          <a:xfrm>
            <a:off x="4297680" y="1645920"/>
            <a:ext cx="384012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strike="noStrike" spc="-1">
                <a:solidFill>
                  <a:srgbClr val="FFFFFF"/>
                </a:solidFill>
                <a:latin typeface="Calibri"/>
              </a:rPr>
              <a:t>Rʙ = Bslow · Δt / D</a:t>
            </a:r>
            <a:endParaRPr lang="en-US" sz="22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9" name="TextBox 13"/>
          <p:cNvSpPr/>
          <p:nvPr/>
        </p:nvSpPr>
        <p:spPr>
          <a:xfrm>
            <a:off x="8412480" y="1234440"/>
            <a:ext cx="347436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strike="noStrike" spc="-1">
                <a:solidFill>
                  <a:srgbClr val="ED7D31"/>
                </a:solidFill>
                <a:latin typeface="Calibri"/>
              </a:rPr>
              <a:t>θᴄ ≈ 0.50    θʙ ≈ 0.40</a:t>
            </a:r>
            <a:endParaRPr lang="en-US" sz="20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00" name="TextBox 14"/>
          <p:cNvSpPr/>
          <p:nvPr/>
        </p:nvSpPr>
        <p:spPr>
          <a:xfrm>
            <a:off x="8412480" y="1691640"/>
            <a:ext cx="3474360" cy="2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strike="noStrike" spc="-1">
                <a:solidFill>
                  <a:srgbClr val="404040"/>
                </a:solidFill>
                <a:latin typeface="Calibri"/>
              </a:rPr>
              <a:t>empirically calibrated thresholds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01" name="Rectangle 15"/>
          <p:cNvSpPr/>
          <p:nvPr/>
        </p:nvSpPr>
        <p:spPr>
          <a:xfrm>
            <a:off x="274320" y="2286000"/>
            <a:ext cx="3520080" cy="3474360"/>
          </a:xfrm>
          <a:prstGeom prst="rect">
            <a:avLst/>
          </a:prstGeom>
          <a:solidFill>
            <a:srgbClr val="FFE6CC"/>
          </a:solidFill>
          <a:ln w="25400">
            <a:solidFill>
              <a:srgbClr val="ED7D31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" name="Rectangle 16"/>
          <p:cNvSpPr/>
          <p:nvPr/>
        </p:nvSpPr>
        <p:spPr>
          <a:xfrm>
            <a:off x="4297680" y="2286000"/>
            <a:ext cx="3520080" cy="3474360"/>
          </a:xfrm>
          <a:prstGeom prst="rect">
            <a:avLst/>
          </a:prstGeom>
          <a:solidFill>
            <a:srgbClr val="E2EFDA"/>
          </a:solidFill>
          <a:ln w="25400">
            <a:solidFill>
              <a:srgbClr val="37864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" name="Rectangle 17"/>
          <p:cNvSpPr/>
          <p:nvPr/>
        </p:nvSpPr>
        <p:spPr>
          <a:xfrm>
            <a:off x="8321040" y="2286000"/>
            <a:ext cx="3520080" cy="3474360"/>
          </a:xfrm>
          <a:prstGeom prst="rect">
            <a:avLst/>
          </a:prstGeom>
          <a:solidFill>
            <a:srgbClr val="FFE0E0"/>
          </a:solidFill>
          <a:ln w="25400">
            <a:solidFill>
              <a:srgbClr val="C00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" name="TextBox 18"/>
          <p:cNvSpPr/>
          <p:nvPr/>
        </p:nvSpPr>
        <p:spPr>
          <a:xfrm>
            <a:off x="411480" y="2377440"/>
            <a:ext cx="3245760" cy="34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1" strike="noStrike" spc="-1">
                <a:solidFill>
                  <a:srgbClr val="1A356E"/>
                </a:solidFill>
                <a:latin typeface="Calibri"/>
              </a:rPr>
              <a:t>① Capacity-Limited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05" name="Rectangle 19"/>
          <p:cNvSpPr/>
          <p:nvPr/>
        </p:nvSpPr>
        <p:spPr>
          <a:xfrm>
            <a:off x="411480" y="2834640"/>
            <a:ext cx="3245760" cy="365400"/>
          </a:xfrm>
          <a:prstGeom prst="rect">
            <a:avLst/>
          </a:prstGeom>
          <a:solidFill>
            <a:srgbClr val="ED7D3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" name="TextBox 20"/>
          <p:cNvSpPr/>
          <p:nvPr/>
        </p:nvSpPr>
        <p:spPr>
          <a:xfrm>
            <a:off x="411480" y="2853000"/>
            <a:ext cx="324576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1" strike="noStrike" spc="-1">
                <a:solidFill>
                  <a:srgbClr val="FFFFFF"/>
                </a:solidFill>
                <a:latin typeface="Calibri"/>
              </a:rPr>
              <a:t>Rᴄ &lt; θᴄ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07" name="TextBox 21"/>
          <p:cNvSpPr/>
          <p:nvPr/>
        </p:nvSpPr>
        <p:spPr>
          <a:xfrm>
            <a:off x="411480" y="3291840"/>
            <a:ext cx="3245760" cy="137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Fast memory cannot hold the working set.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Frequent eviction &amp; reloading.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Orchestration yields ≤ 5% gain.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Primary lever: increase HBM or quantise.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08" name="TextBox 22"/>
          <p:cNvSpPr/>
          <p:nvPr/>
        </p:nvSpPr>
        <p:spPr>
          <a:xfrm>
            <a:off x="4434840" y="2377440"/>
            <a:ext cx="3245760" cy="34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1" strike="noStrike" spc="-1">
                <a:solidFill>
                  <a:srgbClr val="1A356E"/>
                </a:solidFill>
                <a:latin typeface="Calibri"/>
              </a:rPr>
              <a:t>② Coordination-Dominated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09" name="Rectangle 23"/>
          <p:cNvSpPr/>
          <p:nvPr/>
        </p:nvSpPr>
        <p:spPr>
          <a:xfrm>
            <a:off x="4434840" y="2834640"/>
            <a:ext cx="3245760" cy="365400"/>
          </a:xfrm>
          <a:prstGeom prst="rect">
            <a:avLst/>
          </a:prstGeom>
          <a:solidFill>
            <a:srgbClr val="37864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" name="TextBox 24"/>
          <p:cNvSpPr/>
          <p:nvPr/>
        </p:nvSpPr>
        <p:spPr>
          <a:xfrm>
            <a:off x="4434840" y="2853000"/>
            <a:ext cx="324576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1" strike="noStrike" spc="-1">
                <a:solidFill>
                  <a:srgbClr val="FFFFFF"/>
                </a:solidFill>
                <a:latin typeface="Calibri"/>
              </a:rPr>
              <a:t>Rᴄ ≥ θᴄ  and  Rʙ ≥ θʙ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11" name="TextBox 25"/>
          <p:cNvSpPr/>
          <p:nvPr/>
        </p:nvSpPr>
        <p:spPr>
          <a:xfrm>
            <a:off x="4434840" y="3291840"/>
            <a:ext cx="3245760" cy="137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All four latency terms balanced.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Orchestration most effective here.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18–27% latency reduction achievable.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Ideal region for FlexGen, vLLM, Orion.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12" name="TextBox 26"/>
          <p:cNvSpPr/>
          <p:nvPr/>
        </p:nvSpPr>
        <p:spPr>
          <a:xfrm>
            <a:off x="8458200" y="2377440"/>
            <a:ext cx="3245760" cy="34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1" strike="noStrike" spc="-1">
                <a:solidFill>
                  <a:srgbClr val="1A356E"/>
                </a:solidFill>
                <a:latin typeface="Calibri"/>
              </a:rPr>
              <a:t>③ I/O-Limited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13" name="Rectangle 27"/>
          <p:cNvSpPr/>
          <p:nvPr/>
        </p:nvSpPr>
        <p:spPr>
          <a:xfrm>
            <a:off x="8458200" y="2834640"/>
            <a:ext cx="3245760" cy="365400"/>
          </a:xfrm>
          <a:prstGeom prst="rect">
            <a:avLst/>
          </a:prstGeom>
          <a:solidFill>
            <a:srgbClr val="C00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" name="TextBox 28"/>
          <p:cNvSpPr/>
          <p:nvPr/>
        </p:nvSpPr>
        <p:spPr>
          <a:xfrm>
            <a:off x="8458200" y="2853000"/>
            <a:ext cx="324576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1" strike="noStrike" spc="-1">
                <a:solidFill>
                  <a:srgbClr val="FFFFFF"/>
                </a:solidFill>
                <a:latin typeface="Calibri"/>
              </a:rPr>
              <a:t>Rʙ &lt; θʙ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15" name="TextBox 29"/>
          <p:cNvSpPr/>
          <p:nvPr/>
        </p:nvSpPr>
        <p:spPr>
          <a:xfrm>
            <a:off x="8458200" y="3291840"/>
            <a:ext cx="3245760" cy="137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PCIe bandwidth saturated.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Extra coordination adds overhead.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Aggressive offloading worsens by 8–12%.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Primary lever: reduce transfer volume D.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Rectangle 1"/>
          <p:cNvSpPr/>
          <p:nvPr/>
        </p:nvSpPr>
        <p:spPr>
          <a:xfrm>
            <a:off x="0" y="0"/>
            <a:ext cx="12188520" cy="10054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" name="TextBox 2"/>
          <p:cNvSpPr/>
          <p:nvPr/>
        </p:nvSpPr>
        <p:spPr>
          <a:xfrm>
            <a:off x="22860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strike="noStrike" spc="-1">
                <a:solidFill>
                  <a:srgbClr val="FFFFFF"/>
                </a:solidFill>
                <a:latin typeface="Calibri"/>
              </a:rPr>
              <a:t>Analytical Model &amp; Lower Bound</a:t>
            </a:r>
            <a:endParaRPr lang="en-US" sz="2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18" name="TextBox 3"/>
          <p:cNvSpPr/>
          <p:nvPr/>
        </p:nvSpPr>
        <p:spPr>
          <a:xfrm>
            <a:off x="228600" y="658440"/>
            <a:ext cx="91436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BDD7EE"/>
                </a:solidFill>
                <a:latin typeface="Calibri"/>
              </a:rPr>
              <a:t>Eq. 1–3 from the paper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19" name="Rectangle 4"/>
          <p:cNvSpPr/>
          <p:nvPr/>
        </p:nvSpPr>
        <p:spPr>
          <a:xfrm>
            <a:off x="0" y="6537960"/>
            <a:ext cx="12188520" cy="3196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" name="TextBox 5"/>
          <p:cNvSpPr/>
          <p:nvPr/>
        </p:nvSpPr>
        <p:spPr>
          <a:xfrm>
            <a:off x="182880" y="6556320"/>
            <a:ext cx="91436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ORION Project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21" name="TextBox 6"/>
          <p:cNvSpPr/>
          <p:nvPr/>
        </p:nvSpPr>
        <p:spPr>
          <a:xfrm>
            <a:off x="11640240" y="655632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4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22" name="Rectangle 7"/>
          <p:cNvSpPr/>
          <p:nvPr/>
        </p:nvSpPr>
        <p:spPr>
          <a:xfrm>
            <a:off x="365760" y="1143000"/>
            <a:ext cx="11429640" cy="146268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" name="TextBox 8"/>
          <p:cNvSpPr/>
          <p:nvPr/>
        </p:nvSpPr>
        <p:spPr>
          <a:xfrm>
            <a:off x="548640" y="1188720"/>
            <a:ext cx="1097244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1" strike="noStrike" spc="-1">
                <a:solidFill>
                  <a:srgbClr val="2E75B6"/>
                </a:solidFill>
                <a:latin typeface="Calibri"/>
              </a:rPr>
              <a:t>Latency decomposition  (Eq. 1)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24" name="TextBox 9"/>
          <p:cNvSpPr/>
          <p:nvPr/>
        </p:nvSpPr>
        <p:spPr>
          <a:xfrm>
            <a:off x="548640" y="150876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600" b="1" strike="noStrike" spc="-1">
                <a:solidFill>
                  <a:srgbClr val="1A356E"/>
                </a:solidFill>
                <a:latin typeface="Calibri"/>
              </a:rPr>
              <a:t>T_total  =  T_comp  +  T_mem  +  T_swap  +  T_sync</a:t>
            </a:r>
            <a:endParaRPr lang="en-US" sz="2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25" name="Rectangle 10"/>
          <p:cNvSpPr/>
          <p:nvPr/>
        </p:nvSpPr>
        <p:spPr>
          <a:xfrm>
            <a:off x="365760" y="2743200"/>
            <a:ext cx="11429640" cy="1462680"/>
          </a:xfrm>
          <a:prstGeom prst="rect">
            <a:avLst/>
          </a:prstGeom>
          <a:solidFill>
            <a:srgbClr val="FFF0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" name="TextBox 11"/>
          <p:cNvSpPr/>
          <p:nvPr/>
        </p:nvSpPr>
        <p:spPr>
          <a:xfrm>
            <a:off x="548640" y="2788920"/>
            <a:ext cx="1097244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1" strike="noStrike" spc="-1">
                <a:solidFill>
                  <a:srgbClr val="ED7D31"/>
                </a:solidFill>
                <a:latin typeface="Calibri"/>
              </a:rPr>
              <a:t>Structural lower bound  (Eq. 3)  — independent of orchestration policy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27" name="TextBox 12"/>
          <p:cNvSpPr/>
          <p:nvPr/>
        </p:nvSpPr>
        <p:spPr>
          <a:xfrm>
            <a:off x="548640" y="310896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600" b="1" strike="noStrike" spc="-1">
                <a:solidFill>
                  <a:srgbClr val="1A356E"/>
                </a:solidFill>
                <a:latin typeface="Calibri"/>
              </a:rPr>
              <a:t>T_total  ≥  ρ·W·max(0, 1−Rᴄ)  +  D / Bslow</a:t>
            </a:r>
            <a:endParaRPr lang="en-US" sz="2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28" name="TextBox 13"/>
          <p:cNvSpPr/>
          <p:nvPr/>
        </p:nvSpPr>
        <p:spPr>
          <a:xfrm>
            <a:off x="457200" y="4343400"/>
            <a:ext cx="10972440" cy="127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700" b="0" strike="noStrike" spc="-1">
                <a:solidFill>
                  <a:srgbClr val="404040"/>
                </a:solidFill>
                <a:latin typeface="Calibri"/>
              </a:rPr>
              <a:t>  • First term: irreducible memory-access penalty from evicted working-set data (Mattson 1970)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700" b="0" strike="noStrike" spc="-1">
                <a:solidFill>
                  <a:srgbClr val="404040"/>
                </a:solidFill>
                <a:latin typeface="Calibri"/>
              </a:rPr>
              <a:t>  • Second term: minimum DMA transfer time for D compulsory bytes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700" b="0" strike="noStrike" spc="-1">
                <a:solidFill>
                  <a:srgbClr val="404040"/>
                </a:solidFill>
                <a:latin typeface="Calibri"/>
              </a:rPr>
              <a:t>  • T_sync excluded — represents coordination overhead reducible but not eliminated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700" b="0" strike="noStrike" spc="-1">
                <a:solidFill>
                  <a:srgbClr val="404040"/>
                </a:solidFill>
                <a:latin typeface="Calibri"/>
              </a:rPr>
              <a:t>  • Orion achieves 86–92% of lower bound; residual 8–14% ≈ irreducible T_sync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Rectangle 1"/>
          <p:cNvSpPr/>
          <p:nvPr/>
        </p:nvSpPr>
        <p:spPr>
          <a:xfrm>
            <a:off x="0" y="0"/>
            <a:ext cx="12188520" cy="10054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" name="TextBox 2"/>
          <p:cNvSpPr/>
          <p:nvPr/>
        </p:nvSpPr>
        <p:spPr>
          <a:xfrm>
            <a:off x="22860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strike="noStrike" spc="-1">
                <a:solidFill>
                  <a:srgbClr val="FFFFFF"/>
                </a:solidFill>
                <a:latin typeface="Calibri"/>
              </a:rPr>
              <a:t>Worked Example — Llama-3 8B on A100 80 GB</a:t>
            </a:r>
            <a:endParaRPr lang="en-US" sz="2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31" name="TextBox 3"/>
          <p:cNvSpPr/>
          <p:nvPr/>
        </p:nvSpPr>
        <p:spPr>
          <a:xfrm>
            <a:off x="228600" y="658440"/>
            <a:ext cx="91436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BDD7EE"/>
                </a:solidFill>
                <a:latin typeface="Calibri"/>
              </a:rPr>
              <a:t>Any practitioner can compute these from datasheets + model card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32" name="Rectangle 4"/>
          <p:cNvSpPr/>
          <p:nvPr/>
        </p:nvSpPr>
        <p:spPr>
          <a:xfrm>
            <a:off x="0" y="6537960"/>
            <a:ext cx="12188520" cy="3196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" name="TextBox 5"/>
          <p:cNvSpPr/>
          <p:nvPr/>
        </p:nvSpPr>
        <p:spPr>
          <a:xfrm>
            <a:off x="182880" y="6556320"/>
            <a:ext cx="91436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ORION Project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34" name="TextBox 6"/>
          <p:cNvSpPr/>
          <p:nvPr/>
        </p:nvSpPr>
        <p:spPr>
          <a:xfrm>
            <a:off x="11640240" y="655632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5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35" name="Rectangle 7"/>
          <p:cNvSpPr/>
          <p:nvPr/>
        </p:nvSpPr>
        <p:spPr>
          <a:xfrm>
            <a:off x="365760" y="1143000"/>
            <a:ext cx="5303160" cy="502884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" name="TextBox 8"/>
          <p:cNvSpPr/>
          <p:nvPr/>
        </p:nvSpPr>
        <p:spPr>
          <a:xfrm>
            <a:off x="548640" y="1188720"/>
            <a:ext cx="50288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2E75B6"/>
                </a:solidFill>
                <a:latin typeface="Calibri"/>
              </a:rPr>
              <a:t>Hardware + model parameters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37" name="Rectangle 9"/>
          <p:cNvSpPr/>
          <p:nvPr/>
        </p:nvSpPr>
        <p:spPr>
          <a:xfrm>
            <a:off x="502920" y="1600200"/>
            <a:ext cx="5028840" cy="6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TextBox 10"/>
          <p:cNvSpPr/>
          <p:nvPr/>
        </p:nvSpPr>
        <p:spPr>
          <a:xfrm>
            <a:off x="594360" y="1645920"/>
            <a:ext cx="22856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W (working set)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39" name="TextBox 11"/>
          <p:cNvSpPr/>
          <p:nvPr/>
        </p:nvSpPr>
        <p:spPr>
          <a:xfrm>
            <a:off x="2926080" y="1645920"/>
            <a:ext cx="13712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1A356E"/>
                </a:solidFill>
                <a:latin typeface="Calibri"/>
              </a:rPr>
              <a:t>41.8 GB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40" name="TextBox 12"/>
          <p:cNvSpPr/>
          <p:nvPr/>
        </p:nvSpPr>
        <p:spPr>
          <a:xfrm>
            <a:off x="594360" y="1947600"/>
            <a:ext cx="43887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808080"/>
                </a:solidFill>
                <a:latin typeface="Calibri"/>
              </a:rPr>
              <a:t>param 16 + act 17.2 + KV 8.6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41" name="Rectangle 13"/>
          <p:cNvSpPr/>
          <p:nvPr/>
        </p:nvSpPr>
        <p:spPr>
          <a:xfrm>
            <a:off x="502920" y="2377440"/>
            <a:ext cx="5028840" cy="6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" name="TextBox 14"/>
          <p:cNvSpPr/>
          <p:nvPr/>
        </p:nvSpPr>
        <p:spPr>
          <a:xfrm>
            <a:off x="594360" y="2423160"/>
            <a:ext cx="22856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Cfast (HBM)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43" name="TextBox 15"/>
          <p:cNvSpPr/>
          <p:nvPr/>
        </p:nvSpPr>
        <p:spPr>
          <a:xfrm>
            <a:off x="2926080" y="2423160"/>
            <a:ext cx="13712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1A356E"/>
                </a:solidFill>
                <a:latin typeface="Calibri"/>
              </a:rPr>
              <a:t>80 GB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44" name="TextBox 16"/>
          <p:cNvSpPr/>
          <p:nvPr/>
        </p:nvSpPr>
        <p:spPr>
          <a:xfrm>
            <a:off x="594360" y="2724840"/>
            <a:ext cx="43887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808080"/>
                </a:solidFill>
                <a:latin typeface="Calibri"/>
              </a:rPr>
              <a:t>A100 80 GB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45" name="Rectangle 17"/>
          <p:cNvSpPr/>
          <p:nvPr/>
        </p:nvSpPr>
        <p:spPr>
          <a:xfrm>
            <a:off x="502920" y="3154680"/>
            <a:ext cx="5028840" cy="6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" name="TextBox 18"/>
          <p:cNvSpPr/>
          <p:nvPr/>
        </p:nvSpPr>
        <p:spPr>
          <a:xfrm>
            <a:off x="594360" y="3200400"/>
            <a:ext cx="22856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Bslow (PCIe Gen4)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47" name="TextBox 19"/>
          <p:cNvSpPr/>
          <p:nvPr/>
        </p:nvSpPr>
        <p:spPr>
          <a:xfrm>
            <a:off x="2926080" y="3200400"/>
            <a:ext cx="13712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1A356E"/>
                </a:solidFill>
                <a:latin typeface="Calibri"/>
              </a:rPr>
              <a:t>16.1 GB/s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48" name="TextBox 20"/>
          <p:cNvSpPr/>
          <p:nvPr/>
        </p:nvSpPr>
        <p:spPr>
          <a:xfrm>
            <a:off x="594360" y="3502080"/>
            <a:ext cx="43887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808080"/>
                </a:solidFill>
                <a:latin typeface="Calibri"/>
              </a:rPr>
              <a:t>sustained host→device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49" name="Rectangle 21"/>
          <p:cNvSpPr/>
          <p:nvPr/>
        </p:nvSpPr>
        <p:spPr>
          <a:xfrm>
            <a:off x="502920" y="3931920"/>
            <a:ext cx="5028840" cy="6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" name="TextBox 22"/>
          <p:cNvSpPr/>
          <p:nvPr/>
        </p:nvSpPr>
        <p:spPr>
          <a:xfrm>
            <a:off x="594360" y="3977640"/>
            <a:ext cx="22856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D (per step)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1" name="TextBox 23"/>
          <p:cNvSpPr/>
          <p:nvPr/>
        </p:nvSpPr>
        <p:spPr>
          <a:xfrm>
            <a:off x="2926080" y="3977640"/>
            <a:ext cx="13712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1A356E"/>
                </a:solidFill>
                <a:latin typeface="Calibri"/>
              </a:rPr>
              <a:t>1.2 GB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2" name="TextBox 24"/>
          <p:cNvSpPr/>
          <p:nvPr/>
        </p:nvSpPr>
        <p:spPr>
          <a:xfrm>
            <a:off x="594360" y="4279320"/>
            <a:ext cx="43887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808080"/>
                </a:solidFill>
                <a:latin typeface="Calibri"/>
              </a:rPr>
              <a:t>compulsory-only; R_C &gt;&gt; θ_C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3" name="Rectangle 25"/>
          <p:cNvSpPr/>
          <p:nvPr/>
        </p:nvSpPr>
        <p:spPr>
          <a:xfrm>
            <a:off x="502920" y="4709160"/>
            <a:ext cx="5028840" cy="6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" name="TextBox 26"/>
          <p:cNvSpPr/>
          <p:nvPr/>
        </p:nvSpPr>
        <p:spPr>
          <a:xfrm>
            <a:off x="594360" y="4754880"/>
            <a:ext cx="22856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Δt (step duration)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5" name="TextBox 27"/>
          <p:cNvSpPr/>
          <p:nvPr/>
        </p:nvSpPr>
        <p:spPr>
          <a:xfrm>
            <a:off x="2926080" y="4754880"/>
            <a:ext cx="13712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1A356E"/>
                </a:solidFill>
                <a:latin typeface="Calibri"/>
              </a:rPr>
              <a:t>120 ms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6" name="TextBox 28"/>
          <p:cNvSpPr/>
          <p:nvPr/>
        </p:nvSpPr>
        <p:spPr>
          <a:xfrm>
            <a:off x="594360" y="5056560"/>
            <a:ext cx="43887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808080"/>
                </a:solidFill>
                <a:latin typeface="Calibri"/>
              </a:rPr>
              <a:t>measured wall-clock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7" name="Rectangle 29"/>
          <p:cNvSpPr/>
          <p:nvPr/>
        </p:nvSpPr>
        <p:spPr>
          <a:xfrm>
            <a:off x="5989320" y="1143000"/>
            <a:ext cx="5851800" cy="5028840"/>
          </a:xfrm>
          <a:prstGeom prst="rect">
            <a:avLst/>
          </a:prstGeom>
          <a:solidFill>
            <a:srgbClr val="E2EFD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" name="TextBox 30"/>
          <p:cNvSpPr/>
          <p:nvPr/>
        </p:nvSpPr>
        <p:spPr>
          <a:xfrm>
            <a:off x="6172200" y="1188720"/>
            <a:ext cx="54860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378644"/>
                </a:solidFill>
                <a:latin typeface="Calibri"/>
              </a:rPr>
              <a:t>Computed ratios &amp; regime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9" name="Rectangle 31"/>
          <p:cNvSpPr/>
          <p:nvPr/>
        </p:nvSpPr>
        <p:spPr>
          <a:xfrm>
            <a:off x="6126480" y="1600200"/>
            <a:ext cx="548604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7864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TextBox 32"/>
          <p:cNvSpPr/>
          <p:nvPr/>
        </p:nvSpPr>
        <p:spPr>
          <a:xfrm>
            <a:off x="6263640" y="1645920"/>
            <a:ext cx="50288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1A356E"/>
                </a:solidFill>
                <a:latin typeface="Calibri"/>
              </a:rPr>
              <a:t>Rᴄ = Cfast / W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1" name="TextBox 33"/>
          <p:cNvSpPr/>
          <p:nvPr/>
        </p:nvSpPr>
        <p:spPr>
          <a:xfrm>
            <a:off x="6263640" y="1947600"/>
            <a:ext cx="50288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strike="noStrike" spc="-1">
                <a:solidFill>
                  <a:srgbClr val="2E75B6"/>
                </a:solidFill>
                <a:latin typeface="Calibri"/>
              </a:rPr>
              <a:t>= 80 / 41.8 = 1.92</a:t>
            </a: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2" name="TextBox 34"/>
          <p:cNvSpPr/>
          <p:nvPr/>
        </p:nvSpPr>
        <p:spPr>
          <a:xfrm>
            <a:off x="6263640" y="2286000"/>
            <a:ext cx="502884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strike="noStrike" spc="-1">
                <a:solidFill>
                  <a:srgbClr val="378644"/>
                </a:solidFill>
                <a:latin typeface="Calibri"/>
              </a:rPr>
              <a:t>&gt;&gt; θᴄ = 0.50</a:t>
            </a:r>
            <a:endParaRPr lang="en-US" sz="12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3" name="Rectangle 35"/>
          <p:cNvSpPr/>
          <p:nvPr/>
        </p:nvSpPr>
        <p:spPr>
          <a:xfrm>
            <a:off x="6126480" y="2788920"/>
            <a:ext cx="548604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7864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" name="TextBox 36"/>
          <p:cNvSpPr/>
          <p:nvPr/>
        </p:nvSpPr>
        <p:spPr>
          <a:xfrm>
            <a:off x="6263640" y="2834640"/>
            <a:ext cx="50288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1A356E"/>
                </a:solidFill>
                <a:latin typeface="Calibri"/>
              </a:rPr>
              <a:t>Rʙ = Bslow·Δt / D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5" name="TextBox 37"/>
          <p:cNvSpPr/>
          <p:nvPr/>
        </p:nvSpPr>
        <p:spPr>
          <a:xfrm>
            <a:off x="6263640" y="3136320"/>
            <a:ext cx="50288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strike="noStrike" spc="-1">
                <a:solidFill>
                  <a:srgbClr val="2E75B6"/>
                </a:solidFill>
                <a:latin typeface="Calibri"/>
              </a:rPr>
              <a:t>= 16.1×0.12 / 1.2 = 1.61</a:t>
            </a: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6" name="TextBox 38"/>
          <p:cNvSpPr/>
          <p:nvPr/>
        </p:nvSpPr>
        <p:spPr>
          <a:xfrm>
            <a:off x="6263640" y="3474720"/>
            <a:ext cx="502884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strike="noStrike" spc="-1">
                <a:solidFill>
                  <a:srgbClr val="378644"/>
                </a:solidFill>
                <a:latin typeface="Calibri"/>
              </a:rPr>
              <a:t>&gt;&gt; θʙ = 0.40</a:t>
            </a:r>
            <a:endParaRPr lang="en-US" sz="12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7" name="Rectangle 39"/>
          <p:cNvSpPr/>
          <p:nvPr/>
        </p:nvSpPr>
        <p:spPr>
          <a:xfrm>
            <a:off x="6126480" y="3977640"/>
            <a:ext cx="5486040" cy="100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7864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" name="TextBox 40"/>
          <p:cNvSpPr/>
          <p:nvPr/>
        </p:nvSpPr>
        <p:spPr>
          <a:xfrm>
            <a:off x="6263640" y="4023360"/>
            <a:ext cx="50288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1A356E"/>
                </a:solidFill>
                <a:latin typeface="Calibri"/>
              </a:rPr>
              <a:t>Regime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9" name="TextBox 41"/>
          <p:cNvSpPr/>
          <p:nvPr/>
        </p:nvSpPr>
        <p:spPr>
          <a:xfrm>
            <a:off x="6263640" y="4325040"/>
            <a:ext cx="50288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strike="noStrike" spc="-1">
                <a:solidFill>
                  <a:srgbClr val="2E75B6"/>
                </a:solidFill>
                <a:latin typeface="Calibri"/>
              </a:rPr>
              <a:t>COORDINATION-DOMINATED</a:t>
            </a: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0" name="TextBox 42"/>
          <p:cNvSpPr/>
          <p:nvPr/>
        </p:nvSpPr>
        <p:spPr>
          <a:xfrm>
            <a:off x="6263640" y="4663440"/>
            <a:ext cx="502884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strike="noStrike" spc="-1">
                <a:solidFill>
                  <a:srgbClr val="378644"/>
                </a:solidFill>
                <a:latin typeface="Calibri"/>
              </a:rPr>
              <a:t>orchestration profitable</a:t>
            </a:r>
            <a:endParaRPr lang="en-US" sz="1200" b="0" strike="noStrike" spc="-1">
              <a:solidFill>
                <a:srgbClr val="000000"/>
              </a:solidFill>
              <a:latin typeface="Noto Sans CJK K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1"/>
          <p:cNvSpPr/>
          <p:nvPr/>
        </p:nvSpPr>
        <p:spPr>
          <a:xfrm>
            <a:off x="0" y="0"/>
            <a:ext cx="12188520" cy="10054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" name="TextBox 2"/>
          <p:cNvSpPr/>
          <p:nvPr/>
        </p:nvSpPr>
        <p:spPr>
          <a:xfrm>
            <a:off x="22860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strike="noStrike" spc="-1">
                <a:solidFill>
                  <a:srgbClr val="FFFFFF"/>
                </a:solidFill>
                <a:latin typeface="Calibri"/>
              </a:rPr>
              <a:t>Key Result — Strategy Ranking Inversion (Table 2)</a:t>
            </a:r>
            <a:endParaRPr lang="en-US" sz="2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3" name="TextBox 3"/>
          <p:cNvSpPr/>
          <p:nvPr/>
        </p:nvSpPr>
        <p:spPr>
          <a:xfrm>
            <a:off x="228600" y="658440"/>
            <a:ext cx="91436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BDD7EE"/>
                </a:solidFill>
                <a:latin typeface="Calibri"/>
              </a:rPr>
              <a:t>The same method can help in one regime and harm in another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4" name="Rectangle 4"/>
          <p:cNvSpPr/>
          <p:nvPr/>
        </p:nvSpPr>
        <p:spPr>
          <a:xfrm>
            <a:off x="0" y="6537960"/>
            <a:ext cx="12188520" cy="3196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" name="TextBox 5"/>
          <p:cNvSpPr/>
          <p:nvPr/>
        </p:nvSpPr>
        <p:spPr>
          <a:xfrm>
            <a:off x="182880" y="6556320"/>
            <a:ext cx="91436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ORION Project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6" name="TextBox 6"/>
          <p:cNvSpPr/>
          <p:nvPr/>
        </p:nvSpPr>
        <p:spPr>
          <a:xfrm>
            <a:off x="11640240" y="655632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6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7" name="Rectangle 7"/>
          <p:cNvSpPr/>
          <p:nvPr/>
        </p:nvSpPr>
        <p:spPr>
          <a:xfrm>
            <a:off x="274320" y="1188720"/>
            <a:ext cx="11612520" cy="45684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" name="TextBox 8"/>
          <p:cNvSpPr/>
          <p:nvPr/>
        </p:nvSpPr>
        <p:spPr>
          <a:xfrm>
            <a:off x="320040" y="1207080"/>
            <a:ext cx="219420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FFFFFF"/>
                </a:solidFill>
                <a:latin typeface="Calibri"/>
              </a:rPr>
              <a:t>Method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9" name="TextBox 9"/>
          <p:cNvSpPr/>
          <p:nvPr/>
        </p:nvSpPr>
        <p:spPr>
          <a:xfrm>
            <a:off x="2697480" y="1207080"/>
            <a:ext cx="265140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FFFFFF"/>
                </a:solidFill>
                <a:latin typeface="Calibri"/>
              </a:rPr>
              <a:t>Capacity-Limited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0" name="TextBox 10"/>
          <p:cNvSpPr/>
          <p:nvPr/>
        </p:nvSpPr>
        <p:spPr>
          <a:xfrm>
            <a:off x="5532120" y="1207080"/>
            <a:ext cx="310860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FFFFFF"/>
                </a:solidFill>
                <a:latin typeface="Calibri"/>
              </a:rPr>
              <a:t>Coordination-Dominated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1" name="TextBox 11"/>
          <p:cNvSpPr/>
          <p:nvPr/>
        </p:nvSpPr>
        <p:spPr>
          <a:xfrm>
            <a:off x="8823960" y="1207080"/>
            <a:ext cx="283428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FFFFFF"/>
                </a:solidFill>
                <a:latin typeface="Calibri"/>
              </a:rPr>
              <a:t>I/O-Limited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2" name="Rectangle 12"/>
          <p:cNvSpPr/>
          <p:nvPr/>
        </p:nvSpPr>
        <p:spPr>
          <a:xfrm>
            <a:off x="274320" y="1645920"/>
            <a:ext cx="11612520" cy="63972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" name="TextBox 13"/>
          <p:cNvSpPr/>
          <p:nvPr/>
        </p:nvSpPr>
        <p:spPr>
          <a:xfrm>
            <a:off x="320040" y="1737360"/>
            <a:ext cx="219420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PyTorch (baseline)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4" name="TextBox 14"/>
          <p:cNvSpPr/>
          <p:nvPr/>
        </p:nvSpPr>
        <p:spPr>
          <a:xfrm>
            <a:off x="2697480" y="1737360"/>
            <a:ext cx="26514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404040"/>
                </a:solidFill>
                <a:latin typeface="Calibri"/>
              </a:rPr>
              <a:t>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5" name="TextBox 15"/>
          <p:cNvSpPr/>
          <p:nvPr/>
        </p:nvSpPr>
        <p:spPr>
          <a:xfrm>
            <a:off x="5532120" y="1737360"/>
            <a:ext cx="31086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404040"/>
                </a:solidFill>
                <a:latin typeface="Calibri"/>
              </a:rPr>
              <a:t>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6" name="TextBox 16"/>
          <p:cNvSpPr/>
          <p:nvPr/>
        </p:nvSpPr>
        <p:spPr>
          <a:xfrm>
            <a:off x="8823960" y="1737360"/>
            <a:ext cx="283428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404040"/>
                </a:solidFill>
                <a:latin typeface="Calibri"/>
              </a:rPr>
              <a:t>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7" name="Rectangle 17"/>
          <p:cNvSpPr/>
          <p:nvPr/>
        </p:nvSpPr>
        <p:spPr>
          <a:xfrm>
            <a:off x="274320" y="2304360"/>
            <a:ext cx="11612520" cy="639720"/>
          </a:xfrm>
          <a:prstGeom prst="rect">
            <a:avLst/>
          </a:prstGeom>
          <a:solidFill>
            <a:srgbClr val="FFFFE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" name="TextBox 18"/>
          <p:cNvSpPr/>
          <p:nvPr/>
        </p:nvSpPr>
        <p:spPr>
          <a:xfrm>
            <a:off x="320040" y="2395800"/>
            <a:ext cx="219420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FlexGen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9" name="TextBox 19"/>
          <p:cNvSpPr/>
          <p:nvPr/>
        </p:nvSpPr>
        <p:spPr>
          <a:xfrm>
            <a:off x="2697480" y="2395800"/>
            <a:ext cx="26514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404040"/>
                </a:solidFill>
                <a:latin typeface="Calibri"/>
              </a:rPr>
              <a:t>−1.5%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0" name="TextBox 20"/>
          <p:cNvSpPr/>
          <p:nvPr/>
        </p:nvSpPr>
        <p:spPr>
          <a:xfrm>
            <a:off x="5532120" y="2395800"/>
            <a:ext cx="31086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strike="noStrike" spc="-1">
                <a:solidFill>
                  <a:srgbClr val="C00000"/>
                </a:solidFill>
                <a:latin typeface="Calibri"/>
              </a:rPr>
              <a:t>+24.0%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1" name="TextBox 21"/>
          <p:cNvSpPr/>
          <p:nvPr/>
        </p:nvSpPr>
        <p:spPr>
          <a:xfrm>
            <a:off x="8823960" y="2395800"/>
            <a:ext cx="283428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strike="noStrike" spc="-1">
                <a:solidFill>
                  <a:srgbClr val="378644"/>
                </a:solidFill>
                <a:latin typeface="Calibri"/>
              </a:rPr>
              <a:t>−8.0%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2" name="Rectangle 22"/>
          <p:cNvSpPr/>
          <p:nvPr/>
        </p:nvSpPr>
        <p:spPr>
          <a:xfrm>
            <a:off x="274320" y="2962800"/>
            <a:ext cx="11612520" cy="639720"/>
          </a:xfrm>
          <a:prstGeom prst="rect">
            <a:avLst/>
          </a:prstGeom>
          <a:solidFill>
            <a:srgbClr val="FFFFE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" name="TextBox 23"/>
          <p:cNvSpPr/>
          <p:nvPr/>
        </p:nvSpPr>
        <p:spPr>
          <a:xfrm>
            <a:off x="320040" y="3054240"/>
            <a:ext cx="219420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DeepSpeed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4" name="TextBox 24"/>
          <p:cNvSpPr/>
          <p:nvPr/>
        </p:nvSpPr>
        <p:spPr>
          <a:xfrm>
            <a:off x="2697480" y="3054240"/>
            <a:ext cx="26514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404040"/>
                </a:solidFill>
                <a:latin typeface="Calibri"/>
              </a:rPr>
              <a:t>−2.0%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5" name="TextBox 25"/>
          <p:cNvSpPr/>
          <p:nvPr/>
        </p:nvSpPr>
        <p:spPr>
          <a:xfrm>
            <a:off x="5532120" y="3054240"/>
            <a:ext cx="31086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strike="noStrike" spc="-1">
                <a:solidFill>
                  <a:srgbClr val="C00000"/>
                </a:solidFill>
                <a:latin typeface="Calibri"/>
              </a:rPr>
              <a:t>+18.0%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6" name="TextBox 26"/>
          <p:cNvSpPr/>
          <p:nvPr/>
        </p:nvSpPr>
        <p:spPr>
          <a:xfrm>
            <a:off x="8823960" y="3054240"/>
            <a:ext cx="283428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404040"/>
                </a:solidFill>
                <a:latin typeface="Calibri"/>
              </a:rPr>
              <a:t>−5.0%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7" name="Rectangle 27"/>
          <p:cNvSpPr/>
          <p:nvPr/>
        </p:nvSpPr>
        <p:spPr>
          <a:xfrm>
            <a:off x="274320" y="3620880"/>
            <a:ext cx="11612520" cy="639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" name="TextBox 28"/>
          <p:cNvSpPr/>
          <p:nvPr/>
        </p:nvSpPr>
        <p:spPr>
          <a:xfrm>
            <a:off x="320040" y="3712320"/>
            <a:ext cx="219420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SwapAdvisor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9" name="TextBox 29"/>
          <p:cNvSpPr/>
          <p:nvPr/>
        </p:nvSpPr>
        <p:spPr>
          <a:xfrm>
            <a:off x="2697480" y="3712320"/>
            <a:ext cx="26514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404040"/>
                </a:solidFill>
                <a:latin typeface="Calibri"/>
              </a:rPr>
              <a:t>−0.5%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0" name="TextBox 30"/>
          <p:cNvSpPr/>
          <p:nvPr/>
        </p:nvSpPr>
        <p:spPr>
          <a:xfrm>
            <a:off x="5532120" y="3712320"/>
            <a:ext cx="31086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strike="noStrike" spc="-1">
                <a:solidFill>
                  <a:srgbClr val="378644"/>
                </a:solidFill>
                <a:latin typeface="Calibri"/>
              </a:rPr>
              <a:t>−10.0%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1" name="TextBox 31"/>
          <p:cNvSpPr/>
          <p:nvPr/>
        </p:nvSpPr>
        <p:spPr>
          <a:xfrm>
            <a:off x="8823960" y="3712320"/>
            <a:ext cx="283428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strike="noStrike" spc="-1">
                <a:solidFill>
                  <a:srgbClr val="C00000"/>
                </a:solidFill>
                <a:latin typeface="Calibri"/>
              </a:rPr>
              <a:t>+5.0%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2" name="Rectangle 32"/>
          <p:cNvSpPr/>
          <p:nvPr/>
        </p:nvSpPr>
        <p:spPr>
          <a:xfrm>
            <a:off x="274320" y="4279320"/>
            <a:ext cx="11612520" cy="63972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" name="TextBox 33"/>
          <p:cNvSpPr/>
          <p:nvPr/>
        </p:nvSpPr>
        <p:spPr>
          <a:xfrm>
            <a:off x="320040" y="4370760"/>
            <a:ext cx="219420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vLLM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4" name="TextBox 34"/>
          <p:cNvSpPr/>
          <p:nvPr/>
        </p:nvSpPr>
        <p:spPr>
          <a:xfrm>
            <a:off x="2697480" y="4370760"/>
            <a:ext cx="26514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strike="noStrike" spc="-1">
                <a:solidFill>
                  <a:srgbClr val="C00000"/>
                </a:solidFill>
                <a:latin typeface="Calibri"/>
              </a:rPr>
              <a:t>+1.0%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5" name="TextBox 35"/>
          <p:cNvSpPr/>
          <p:nvPr/>
        </p:nvSpPr>
        <p:spPr>
          <a:xfrm>
            <a:off x="5532120" y="4370760"/>
            <a:ext cx="31086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strike="noStrike" spc="-1">
                <a:solidFill>
                  <a:srgbClr val="378644"/>
                </a:solidFill>
                <a:latin typeface="Calibri"/>
              </a:rPr>
              <a:t>−13.0%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6" name="TextBox 36"/>
          <p:cNvSpPr/>
          <p:nvPr/>
        </p:nvSpPr>
        <p:spPr>
          <a:xfrm>
            <a:off x="8823960" y="4370760"/>
            <a:ext cx="283428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strike="noStrike" spc="-1">
                <a:solidFill>
                  <a:srgbClr val="378644"/>
                </a:solidFill>
                <a:latin typeface="Calibri"/>
              </a:rPr>
              <a:t>−6.0%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7" name="Rectangle 37"/>
          <p:cNvSpPr/>
          <p:nvPr/>
        </p:nvSpPr>
        <p:spPr>
          <a:xfrm>
            <a:off x="274320" y="4937760"/>
            <a:ext cx="11612520" cy="639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8" name="TextBox 38"/>
          <p:cNvSpPr/>
          <p:nvPr/>
        </p:nvSpPr>
        <p:spPr>
          <a:xfrm>
            <a:off x="320040" y="5029200"/>
            <a:ext cx="219420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1" strike="noStrike" spc="-1">
                <a:solidFill>
                  <a:srgbClr val="1A356E"/>
                </a:solidFill>
                <a:latin typeface="Calibri"/>
              </a:rPr>
              <a:t>Orion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9" name="TextBox 39"/>
          <p:cNvSpPr/>
          <p:nvPr/>
        </p:nvSpPr>
        <p:spPr>
          <a:xfrm>
            <a:off x="2697480" y="5029200"/>
            <a:ext cx="26514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404040"/>
                </a:solidFill>
                <a:latin typeface="Calibri"/>
              </a:rPr>
              <a:t>−4.0%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0" name="TextBox 40"/>
          <p:cNvSpPr/>
          <p:nvPr/>
        </p:nvSpPr>
        <p:spPr>
          <a:xfrm>
            <a:off x="5532120" y="5029200"/>
            <a:ext cx="310860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strike="noStrike" spc="-1">
                <a:solidFill>
                  <a:srgbClr val="378644"/>
                </a:solidFill>
                <a:latin typeface="Calibri"/>
              </a:rPr>
              <a:t>−20.5%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1" name="TextBox 41"/>
          <p:cNvSpPr/>
          <p:nvPr/>
        </p:nvSpPr>
        <p:spPr>
          <a:xfrm>
            <a:off x="8823960" y="5029200"/>
            <a:ext cx="283428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strike="noStrike" spc="-1">
                <a:solidFill>
                  <a:srgbClr val="378644"/>
                </a:solidFill>
                <a:latin typeface="Calibri"/>
              </a:rPr>
              <a:t>−10.5%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2" name="TextBox 42"/>
          <p:cNvSpPr/>
          <p:nvPr/>
        </p:nvSpPr>
        <p:spPr>
          <a:xfrm>
            <a:off x="274320" y="6080760"/>
            <a:ext cx="1161252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↑ Red = latency increase (worse than baseline)    ↓ Green = improvement &gt; 5%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FlexGen improves in coord-dominated but HURTS by +24% — ranking fully inverts across boundaries.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Rectangle 1"/>
          <p:cNvSpPr/>
          <p:nvPr/>
        </p:nvSpPr>
        <p:spPr>
          <a:xfrm>
            <a:off x="0" y="0"/>
            <a:ext cx="12188520" cy="10054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" name="TextBox 2"/>
          <p:cNvSpPr/>
          <p:nvPr/>
        </p:nvSpPr>
        <p:spPr>
          <a:xfrm>
            <a:off x="22860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strike="noStrike" spc="-1">
                <a:solidFill>
                  <a:srgbClr val="FFFFFF"/>
                </a:solidFill>
                <a:latin typeface="Calibri"/>
              </a:rPr>
              <a:t>Workload Generality — Beyond LLMs (Table 3)</a:t>
            </a:r>
            <a:endParaRPr lang="en-US" sz="2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5" name="TextBox 3"/>
          <p:cNvSpPr/>
          <p:nvPr/>
        </p:nvSpPr>
        <p:spPr>
          <a:xfrm>
            <a:off x="228600" y="658440"/>
            <a:ext cx="91436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BDD7EE"/>
                </a:solidFill>
                <a:latin typeface="Calibri"/>
              </a:rPr>
              <a:t>BLIP2  ·  RAG  ·  YOLOv8 all exhibit three-regime structure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6" name="Rectangle 4"/>
          <p:cNvSpPr/>
          <p:nvPr/>
        </p:nvSpPr>
        <p:spPr>
          <a:xfrm>
            <a:off x="0" y="6537960"/>
            <a:ext cx="12188520" cy="3196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7" name="TextBox 5"/>
          <p:cNvSpPr/>
          <p:nvPr/>
        </p:nvSpPr>
        <p:spPr>
          <a:xfrm>
            <a:off x="182880" y="6556320"/>
            <a:ext cx="91436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ORION Project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8" name="TextBox 6"/>
          <p:cNvSpPr/>
          <p:nvPr/>
        </p:nvSpPr>
        <p:spPr>
          <a:xfrm>
            <a:off x="11640240" y="655632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7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9" name="Rectangle 7"/>
          <p:cNvSpPr/>
          <p:nvPr/>
        </p:nvSpPr>
        <p:spPr>
          <a:xfrm>
            <a:off x="365760" y="1188720"/>
            <a:ext cx="3657240" cy="5028840"/>
          </a:xfrm>
          <a:prstGeom prst="rect">
            <a:avLst/>
          </a:prstGeom>
          <a:solidFill>
            <a:srgbClr val="F2F2F2"/>
          </a:solidFill>
          <a:ln w="12700">
            <a:solidFill>
              <a:srgbClr val="2E75B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" name="TextBox 8"/>
          <p:cNvSpPr/>
          <p:nvPr/>
        </p:nvSpPr>
        <p:spPr>
          <a:xfrm>
            <a:off x="502920" y="1280160"/>
            <a:ext cx="33829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strike="noStrike" spc="-1">
                <a:solidFill>
                  <a:srgbClr val="1A356E"/>
                </a:solidFill>
                <a:latin typeface="Calibri"/>
              </a:rPr>
              <a:t>BLIP2-VQA</a:t>
            </a:r>
            <a:endParaRPr lang="en-US" sz="20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1" name="TextBox 9"/>
          <p:cNvSpPr/>
          <p:nvPr/>
        </p:nvSpPr>
        <p:spPr>
          <a:xfrm>
            <a:off x="502920" y="1828800"/>
            <a:ext cx="3382920" cy="48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300" b="0" strike="noStrike" spc="-1">
                <a:solidFill>
                  <a:srgbClr val="404040"/>
                </a:solidFill>
                <a:latin typeface="Calibri"/>
              </a:rPr>
              <a:t>Visual question-answering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strike="noStrike" spc="-1">
                <a:solidFill>
                  <a:srgbClr val="404040"/>
                </a:solidFill>
                <a:latin typeface="Calibri"/>
              </a:rPr>
              <a:t>(vision + language fusion)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2" name="Rectangle 10"/>
          <p:cNvSpPr/>
          <p:nvPr/>
        </p:nvSpPr>
        <p:spPr>
          <a:xfrm>
            <a:off x="502920" y="2423160"/>
            <a:ext cx="3382920" cy="411120"/>
          </a:xfrm>
          <a:prstGeom prst="rect">
            <a:avLst/>
          </a:prstGeom>
          <a:solidFill>
            <a:srgbClr val="37864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3" name="TextBox 11"/>
          <p:cNvSpPr/>
          <p:nvPr/>
        </p:nvSpPr>
        <p:spPr>
          <a:xfrm>
            <a:off x="502920" y="2441520"/>
            <a:ext cx="338292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FFFFFF"/>
                </a:solidFill>
                <a:latin typeface="Calibri"/>
              </a:rPr>
              <a:t>Coord-Dominated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4" name="TextBox 12"/>
          <p:cNvSpPr/>
          <p:nvPr/>
        </p:nvSpPr>
        <p:spPr>
          <a:xfrm>
            <a:off x="502920" y="2898720"/>
            <a:ext cx="3382920" cy="2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strike="noStrike" spc="-1">
                <a:solidFill>
                  <a:srgbClr val="2E75B6"/>
                </a:solidFill>
                <a:latin typeface="Calibri"/>
              </a:rPr>
              <a:t>Rc=0.62  Rb=1.10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5" name="TextBox 13"/>
          <p:cNvSpPr/>
          <p:nvPr/>
        </p:nvSpPr>
        <p:spPr>
          <a:xfrm>
            <a:off x="502920" y="3337560"/>
            <a:ext cx="3382920" cy="77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FlexGen: +24%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  <a:p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vLLM: −13%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Orion: −20.5%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6" name="Rectangle 14"/>
          <p:cNvSpPr/>
          <p:nvPr/>
        </p:nvSpPr>
        <p:spPr>
          <a:xfrm>
            <a:off x="4297680" y="1188720"/>
            <a:ext cx="3657240" cy="5028840"/>
          </a:xfrm>
          <a:prstGeom prst="rect">
            <a:avLst/>
          </a:prstGeom>
          <a:solidFill>
            <a:srgbClr val="F2F2F2"/>
          </a:solidFill>
          <a:ln w="12700">
            <a:solidFill>
              <a:srgbClr val="2E75B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7" name="TextBox 15"/>
          <p:cNvSpPr/>
          <p:nvPr/>
        </p:nvSpPr>
        <p:spPr>
          <a:xfrm>
            <a:off x="4434840" y="1280160"/>
            <a:ext cx="3382920" cy="69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2000" b="1" strike="noStrike" spc="-1">
                <a:solidFill>
                  <a:srgbClr val="1A356E"/>
                </a:solidFill>
                <a:latin typeface="Calibri"/>
              </a:rPr>
              <a:t>RAG</a:t>
            </a:r>
            <a:endParaRPr lang="en-US" sz="20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2000" b="1" strike="noStrike" spc="-1">
                <a:solidFill>
                  <a:srgbClr val="1A356E"/>
                </a:solidFill>
                <a:latin typeface="Calibri"/>
              </a:rPr>
              <a:t>(Llama-3)</a:t>
            </a:r>
            <a:endParaRPr lang="en-US" sz="20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8" name="TextBox 16"/>
          <p:cNvSpPr/>
          <p:nvPr/>
        </p:nvSpPr>
        <p:spPr>
          <a:xfrm>
            <a:off x="4434840" y="1828800"/>
            <a:ext cx="3382920" cy="48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300" b="0" strike="noStrike" spc="-1">
                <a:solidFill>
                  <a:srgbClr val="404040"/>
                </a:solidFill>
                <a:latin typeface="Calibri"/>
              </a:rPr>
              <a:t>Retrieval-augmented generation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strike="noStrike" spc="-1">
                <a:solidFill>
                  <a:srgbClr val="404040"/>
                </a:solidFill>
                <a:latin typeface="Calibri"/>
              </a:rPr>
              <a:t>(dense retrieval + decode)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9" name="Rectangle 17"/>
          <p:cNvSpPr/>
          <p:nvPr/>
        </p:nvSpPr>
        <p:spPr>
          <a:xfrm>
            <a:off x="4434840" y="2423160"/>
            <a:ext cx="3382920" cy="411120"/>
          </a:xfrm>
          <a:prstGeom prst="rect">
            <a:avLst/>
          </a:prstGeom>
          <a:solidFill>
            <a:srgbClr val="37864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0" name="TextBox 18"/>
          <p:cNvSpPr/>
          <p:nvPr/>
        </p:nvSpPr>
        <p:spPr>
          <a:xfrm>
            <a:off x="4434840" y="2441520"/>
            <a:ext cx="338292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FFFFFF"/>
                </a:solidFill>
                <a:latin typeface="Calibri"/>
              </a:rPr>
              <a:t>Coord-Dominated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1" name="TextBox 19"/>
          <p:cNvSpPr/>
          <p:nvPr/>
        </p:nvSpPr>
        <p:spPr>
          <a:xfrm>
            <a:off x="4434840" y="2898720"/>
            <a:ext cx="3382920" cy="2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strike="noStrike" spc="-1">
                <a:solidFill>
                  <a:srgbClr val="2E75B6"/>
                </a:solidFill>
                <a:latin typeface="Calibri"/>
              </a:rPr>
              <a:t>Rc=0.58  Rb=0.85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2" name="TextBox 20"/>
          <p:cNvSpPr/>
          <p:nvPr/>
        </p:nvSpPr>
        <p:spPr>
          <a:xfrm>
            <a:off x="4434840" y="3337560"/>
            <a:ext cx="3382920" cy="77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FlexGen: +24%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  <a:p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vLLM: −13%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Orion: −20.5%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3" name="Rectangle 21"/>
          <p:cNvSpPr/>
          <p:nvPr/>
        </p:nvSpPr>
        <p:spPr>
          <a:xfrm>
            <a:off x="8229600" y="1188720"/>
            <a:ext cx="3657240" cy="5028840"/>
          </a:xfrm>
          <a:prstGeom prst="rect">
            <a:avLst/>
          </a:prstGeom>
          <a:solidFill>
            <a:srgbClr val="F2F2F2"/>
          </a:solidFill>
          <a:ln w="12700">
            <a:solidFill>
              <a:srgbClr val="2E75B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" name="TextBox 22"/>
          <p:cNvSpPr/>
          <p:nvPr/>
        </p:nvSpPr>
        <p:spPr>
          <a:xfrm>
            <a:off x="8366760" y="1280160"/>
            <a:ext cx="3382920" cy="69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2000" b="1" strike="noStrike" spc="-1">
                <a:solidFill>
                  <a:srgbClr val="1A356E"/>
                </a:solidFill>
                <a:latin typeface="Calibri"/>
              </a:rPr>
              <a:t>YOLOv8</a:t>
            </a:r>
            <a:endParaRPr lang="en-US" sz="20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2000" b="1" strike="noStrike" spc="-1">
                <a:solidFill>
                  <a:srgbClr val="1A356E"/>
                </a:solidFill>
                <a:latin typeface="Calibri"/>
              </a:rPr>
              <a:t>(edge)</a:t>
            </a:r>
            <a:endParaRPr lang="en-US" sz="20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5" name="TextBox 23"/>
          <p:cNvSpPr/>
          <p:nvPr/>
        </p:nvSpPr>
        <p:spPr>
          <a:xfrm>
            <a:off x="8366760" y="1828800"/>
            <a:ext cx="3382920" cy="48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300" b="0" strike="noStrike" spc="-1">
                <a:solidFill>
                  <a:srgbClr val="404040"/>
                </a:solidFill>
                <a:latin typeface="Calibri"/>
              </a:rPr>
              <a:t>Object detection inference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strike="noStrike" spc="-1">
                <a:solidFill>
                  <a:srgbClr val="404040"/>
                </a:solidFill>
                <a:latin typeface="Calibri"/>
              </a:rPr>
              <a:t>(non-autoregressive)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6" name="Rectangle 24"/>
          <p:cNvSpPr/>
          <p:nvPr/>
        </p:nvSpPr>
        <p:spPr>
          <a:xfrm>
            <a:off x="8366760" y="2423160"/>
            <a:ext cx="3382920" cy="411120"/>
          </a:xfrm>
          <a:prstGeom prst="rect">
            <a:avLst/>
          </a:prstGeom>
          <a:solidFill>
            <a:srgbClr val="ED7D3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" name="TextBox 25"/>
          <p:cNvSpPr/>
          <p:nvPr/>
        </p:nvSpPr>
        <p:spPr>
          <a:xfrm>
            <a:off x="8366760" y="2441520"/>
            <a:ext cx="338292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FFFFFF"/>
                </a:solidFill>
                <a:latin typeface="Calibri"/>
              </a:rPr>
              <a:t>Capacity-Limited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8" name="TextBox 26"/>
          <p:cNvSpPr/>
          <p:nvPr/>
        </p:nvSpPr>
        <p:spPr>
          <a:xfrm>
            <a:off x="8366760" y="2898720"/>
            <a:ext cx="3382920" cy="2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strike="noStrike" spc="-1">
                <a:solidFill>
                  <a:srgbClr val="2E75B6"/>
                </a:solidFill>
                <a:latin typeface="Calibri"/>
              </a:rPr>
              <a:t>Rc=0.38  Rb=0.35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9" name="TextBox 27"/>
          <p:cNvSpPr/>
          <p:nvPr/>
        </p:nvSpPr>
        <p:spPr>
          <a:xfrm>
            <a:off x="8366760" y="3337560"/>
            <a:ext cx="3382920" cy="77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FlexGen: −1.5%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  <a:p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vLLM: N/A*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Orion: −4%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0" name="TextBox 28"/>
          <p:cNvSpPr/>
          <p:nvPr/>
        </p:nvSpPr>
        <p:spPr>
          <a:xfrm>
            <a:off x="274320" y="6309360"/>
            <a:ext cx="11612520" cy="2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strike="noStrike" spc="-1">
                <a:solidFill>
                  <a:srgbClr val="404040"/>
                </a:solidFill>
                <a:latin typeface="Calibri"/>
              </a:rPr>
              <a:t>* vLLM not applicable to YOLOv8 (non-token-based).  All three non-LLM workloads confirm the same three-regime structure.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Rectangle 1"/>
          <p:cNvSpPr/>
          <p:nvPr/>
        </p:nvSpPr>
        <p:spPr>
          <a:xfrm>
            <a:off x="0" y="0"/>
            <a:ext cx="12188520" cy="10054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2" name="TextBox 2"/>
          <p:cNvSpPr/>
          <p:nvPr/>
        </p:nvSpPr>
        <p:spPr>
          <a:xfrm>
            <a:off x="22860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strike="noStrike" spc="-1">
                <a:solidFill>
                  <a:srgbClr val="FFFFFF"/>
                </a:solidFill>
                <a:latin typeface="Calibri"/>
              </a:rPr>
              <a:t>Regime Classifier &amp; Orion_Full vs Orion_HW</a:t>
            </a:r>
            <a:endParaRPr lang="en-US" sz="2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3" name="TextBox 3"/>
          <p:cNvSpPr/>
          <p:nvPr/>
        </p:nvSpPr>
        <p:spPr>
          <a:xfrm>
            <a:off x="228600" y="658440"/>
            <a:ext cx="91436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BDD7EE"/>
                </a:solidFill>
                <a:latin typeface="Calibri"/>
              </a:rPr>
              <a:t>Ablation study — how much does the classifier contribute?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4" name="Rectangle 4"/>
          <p:cNvSpPr/>
          <p:nvPr/>
        </p:nvSpPr>
        <p:spPr>
          <a:xfrm>
            <a:off x="0" y="6537960"/>
            <a:ext cx="12188520" cy="3196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5" name="TextBox 5"/>
          <p:cNvSpPr/>
          <p:nvPr/>
        </p:nvSpPr>
        <p:spPr>
          <a:xfrm>
            <a:off x="182880" y="6556320"/>
            <a:ext cx="91436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ORION Project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6" name="TextBox 6"/>
          <p:cNvSpPr/>
          <p:nvPr/>
        </p:nvSpPr>
        <p:spPr>
          <a:xfrm>
            <a:off x="11640240" y="655632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8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7" name="Rectangle 7"/>
          <p:cNvSpPr/>
          <p:nvPr/>
        </p:nvSpPr>
        <p:spPr>
          <a:xfrm>
            <a:off x="365760" y="1143000"/>
            <a:ext cx="5303160" cy="502884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8" name="TextBox 8"/>
          <p:cNvSpPr/>
          <p:nvPr/>
        </p:nvSpPr>
        <p:spPr>
          <a:xfrm>
            <a:off x="548640" y="1188720"/>
            <a:ext cx="502884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1" strike="noStrike" spc="-1">
                <a:solidFill>
                  <a:srgbClr val="2E75B6"/>
                </a:solidFill>
                <a:latin typeface="Calibri"/>
              </a:rPr>
              <a:t>Classifier (depth-3 CART decision tree)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9" name="TextBox 9"/>
          <p:cNvSpPr/>
          <p:nvPr/>
        </p:nvSpPr>
        <p:spPr>
          <a:xfrm>
            <a:off x="548640" y="1645920"/>
            <a:ext cx="5028840" cy="2121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  • Training: 2,400 probing measurements, 5 platforms, 3 regimes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  • Cross-validated accuracy: 93.4% ± 1.2%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  • Inference cost: &lt; 0.1 ms  (runs every 100 ms)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  • Features: swap/comp ratio, L2 hit rate, DMA utilisation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500" b="0" strike="noStrike" spc="-1">
                <a:solidFill>
                  <a:srgbClr val="404040"/>
                </a:solidFill>
                <a:latin typeface="Calibri"/>
              </a:rPr>
              <a:t>  • Hysteresis guard: 2 consecutive windows to trigger switch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0" name="TextBox 10"/>
          <p:cNvSpPr/>
          <p:nvPr/>
        </p:nvSpPr>
        <p:spPr>
          <a:xfrm>
            <a:off x="548640" y="4297680"/>
            <a:ext cx="50288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1A356E"/>
                </a:solidFill>
                <a:latin typeface="Calibri"/>
              </a:rPr>
              <a:t>Decision tree: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1" name="TextBox 11"/>
          <p:cNvSpPr/>
          <p:nvPr/>
        </p:nvSpPr>
        <p:spPr>
          <a:xfrm>
            <a:off x="548640" y="4663440"/>
            <a:ext cx="5028840" cy="94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Rᴄ &lt; 0.50?  →  yes → CAPACITY-LIMITED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            →  no  → Rʙ &lt; 0.40?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                        →  yes → I/O-LIMITED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                        →  no  → COORDINATION-DOMINATED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2" name="Rectangle 12"/>
          <p:cNvSpPr/>
          <p:nvPr/>
        </p:nvSpPr>
        <p:spPr>
          <a:xfrm>
            <a:off x="5989320" y="1143000"/>
            <a:ext cx="5851800" cy="502884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3" name="TextBox 13"/>
          <p:cNvSpPr/>
          <p:nvPr/>
        </p:nvSpPr>
        <p:spPr>
          <a:xfrm>
            <a:off x="6172200" y="1188720"/>
            <a:ext cx="54860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>
                <a:solidFill>
                  <a:srgbClr val="2E75B6"/>
                </a:solidFill>
                <a:latin typeface="Calibri"/>
              </a:rPr>
              <a:t>Ablation: Orion_HW vs Orion_Full  (Table D.1)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4" name="Rectangle 14"/>
          <p:cNvSpPr/>
          <p:nvPr/>
        </p:nvSpPr>
        <p:spPr>
          <a:xfrm>
            <a:off x="6126480" y="1737360"/>
            <a:ext cx="5486040" cy="123408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5B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5" name="TextBox 15"/>
          <p:cNvSpPr/>
          <p:nvPr/>
        </p:nvSpPr>
        <p:spPr>
          <a:xfrm>
            <a:off x="6263640" y="1783080"/>
            <a:ext cx="219420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1" strike="noStrike" spc="-1">
                <a:solidFill>
                  <a:srgbClr val="2E75B6"/>
                </a:solidFill>
                <a:latin typeface="Calibri"/>
              </a:rPr>
              <a:t>Orion_HW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6" name="TextBox 16"/>
          <p:cNvSpPr/>
          <p:nvPr/>
        </p:nvSpPr>
        <p:spPr>
          <a:xfrm>
            <a:off x="6263640" y="2286000"/>
            <a:ext cx="2285640" cy="48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300" b="0" strike="noStrike" spc="-1">
                <a:solidFill>
                  <a:srgbClr val="404040"/>
                </a:solidFill>
                <a:latin typeface="Calibri"/>
              </a:rPr>
              <a:t>NUMA + process pinning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strike="noStrike" spc="-1">
                <a:solidFill>
                  <a:srgbClr val="404040"/>
                </a:solidFill>
                <a:latin typeface="Calibri"/>
              </a:rPr>
              <a:t>+ GPU-tailored swapping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7" name="TextBox 17"/>
          <p:cNvSpPr/>
          <p:nvPr/>
        </p:nvSpPr>
        <p:spPr>
          <a:xfrm>
            <a:off x="8686800" y="2011680"/>
            <a:ext cx="274284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strike="noStrike" spc="-1">
                <a:solidFill>
                  <a:srgbClr val="2E75B6"/>
                </a:solidFill>
                <a:latin typeface="Calibri"/>
              </a:rPr>
              <a:t>−3.8 to −8.3%</a:t>
            </a:r>
            <a:endParaRPr lang="en-US" sz="22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8" name="Rectangle 18"/>
          <p:cNvSpPr/>
          <p:nvPr/>
        </p:nvSpPr>
        <p:spPr>
          <a:xfrm>
            <a:off x="6126480" y="3154680"/>
            <a:ext cx="5486040" cy="1234080"/>
          </a:xfrm>
          <a:prstGeom prst="rect">
            <a:avLst/>
          </a:prstGeom>
          <a:solidFill>
            <a:srgbClr val="FFFFFF"/>
          </a:solidFill>
          <a:ln w="25400">
            <a:solidFill>
              <a:srgbClr val="1A356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9" name="TextBox 19"/>
          <p:cNvSpPr/>
          <p:nvPr/>
        </p:nvSpPr>
        <p:spPr>
          <a:xfrm>
            <a:off x="6263640" y="3200400"/>
            <a:ext cx="219420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1" strike="noStrike" spc="-1">
                <a:solidFill>
                  <a:srgbClr val="1A356E"/>
                </a:solidFill>
                <a:latin typeface="Calibri"/>
              </a:rPr>
              <a:t>+ Classifier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0" name="TextBox 20"/>
          <p:cNvSpPr/>
          <p:nvPr/>
        </p:nvSpPr>
        <p:spPr>
          <a:xfrm>
            <a:off x="6263640" y="3703320"/>
            <a:ext cx="2285640" cy="48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300" b="0" strike="noStrike" spc="-1">
                <a:solidFill>
                  <a:srgbClr val="404040"/>
                </a:solidFill>
                <a:latin typeface="Calibri"/>
              </a:rPr>
              <a:t>100-ms regime loop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strike="noStrike" spc="-1">
                <a:solidFill>
                  <a:srgbClr val="404040"/>
                </a:solidFill>
                <a:latin typeface="Calibri"/>
              </a:rPr>
              <a:t>adaptive strategy switch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1" name="TextBox 21"/>
          <p:cNvSpPr/>
          <p:nvPr/>
        </p:nvSpPr>
        <p:spPr>
          <a:xfrm>
            <a:off x="8686800" y="3429000"/>
            <a:ext cx="274284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strike="noStrike" spc="-1">
                <a:solidFill>
                  <a:srgbClr val="1A356E"/>
                </a:solidFill>
                <a:latin typeface="Calibri"/>
              </a:rPr>
              <a:t>−1.1 to −18.8%</a:t>
            </a:r>
            <a:endParaRPr lang="en-US" sz="22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2" name="Rectangle 22"/>
          <p:cNvSpPr/>
          <p:nvPr/>
        </p:nvSpPr>
        <p:spPr>
          <a:xfrm>
            <a:off x="6126480" y="4572000"/>
            <a:ext cx="5486040" cy="1234080"/>
          </a:xfrm>
          <a:prstGeom prst="rect">
            <a:avLst/>
          </a:prstGeom>
          <a:solidFill>
            <a:srgbClr val="FFFFFF"/>
          </a:solidFill>
          <a:ln w="25400">
            <a:solidFill>
              <a:srgbClr val="ED7D31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3" name="TextBox 23"/>
          <p:cNvSpPr/>
          <p:nvPr/>
        </p:nvSpPr>
        <p:spPr>
          <a:xfrm>
            <a:off x="6263640" y="4617720"/>
            <a:ext cx="2194200" cy="54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500" b="1" strike="noStrike" spc="-1">
                <a:solidFill>
                  <a:srgbClr val="ED7D31"/>
                </a:solidFill>
                <a:latin typeface="Calibri"/>
              </a:rPr>
              <a:t>Classifier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500" b="1" strike="noStrike" spc="-1">
                <a:solidFill>
                  <a:srgbClr val="ED7D31"/>
                </a:solidFill>
                <a:latin typeface="Calibri"/>
              </a:rPr>
              <a:t>contribution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4" name="TextBox 24"/>
          <p:cNvSpPr/>
          <p:nvPr/>
        </p:nvSpPr>
        <p:spPr>
          <a:xfrm>
            <a:off x="6263640" y="5120640"/>
            <a:ext cx="2285640" cy="2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strike="noStrike" spc="-1">
                <a:solidFill>
                  <a:srgbClr val="404040"/>
                </a:solidFill>
                <a:latin typeface="Calibri"/>
              </a:rPr>
              <a:t>fraction of total gain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5" name="TextBox 25"/>
          <p:cNvSpPr/>
          <p:nvPr/>
        </p:nvSpPr>
        <p:spPr>
          <a:xfrm>
            <a:off x="8686800" y="4846320"/>
            <a:ext cx="274284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strike="noStrike" spc="-1">
                <a:solidFill>
                  <a:srgbClr val="ED7D31"/>
                </a:solidFill>
                <a:latin typeface="Calibri"/>
              </a:rPr>
              <a:t>21 – 76%</a:t>
            </a:r>
            <a:endParaRPr lang="en-US" sz="2200" b="0" strike="noStrike" spc="-1">
              <a:solidFill>
                <a:srgbClr val="000000"/>
              </a:solidFill>
              <a:latin typeface="Noto Sans CJK K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Rectangle 1"/>
          <p:cNvSpPr/>
          <p:nvPr/>
        </p:nvSpPr>
        <p:spPr>
          <a:xfrm>
            <a:off x="0" y="0"/>
            <a:ext cx="12188520" cy="10054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7" name="TextBox 2"/>
          <p:cNvSpPr/>
          <p:nvPr/>
        </p:nvSpPr>
        <p:spPr>
          <a:xfrm>
            <a:off x="22860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strike="noStrike" spc="-1">
                <a:solidFill>
                  <a:srgbClr val="FFFFFF"/>
                </a:solidFill>
                <a:latin typeface="Calibri"/>
              </a:rPr>
              <a:t>Lower Bound Achievability</a:t>
            </a:r>
            <a:endParaRPr lang="en-US" sz="2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8" name="TextBox 3"/>
          <p:cNvSpPr/>
          <p:nvPr/>
        </p:nvSpPr>
        <p:spPr>
          <a:xfrm>
            <a:off x="228600" y="658440"/>
            <a:ext cx="91436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BDD7EE"/>
                </a:solidFill>
                <a:latin typeface="Calibri"/>
              </a:rPr>
              <a:t>How close does Orion get to the physical optimum?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9" name="Rectangle 4"/>
          <p:cNvSpPr/>
          <p:nvPr/>
        </p:nvSpPr>
        <p:spPr>
          <a:xfrm>
            <a:off x="0" y="6537960"/>
            <a:ext cx="12188520" cy="3196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0" name="TextBox 5"/>
          <p:cNvSpPr/>
          <p:nvPr/>
        </p:nvSpPr>
        <p:spPr>
          <a:xfrm>
            <a:off x="182880" y="6556320"/>
            <a:ext cx="91436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ORION Project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1" name="TextBox 6"/>
          <p:cNvSpPr/>
          <p:nvPr/>
        </p:nvSpPr>
        <p:spPr>
          <a:xfrm>
            <a:off x="11640240" y="655632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9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2" name="Rectangle 7"/>
          <p:cNvSpPr/>
          <p:nvPr/>
        </p:nvSpPr>
        <p:spPr>
          <a:xfrm>
            <a:off x="365760" y="1371600"/>
            <a:ext cx="2742840" cy="164556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3" name="TextBox 8"/>
          <p:cNvSpPr/>
          <p:nvPr/>
        </p:nvSpPr>
        <p:spPr>
          <a:xfrm>
            <a:off x="365760" y="1463040"/>
            <a:ext cx="2742840" cy="684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300" b="0" strike="noStrike" spc="-1">
                <a:solidFill>
                  <a:srgbClr val="FFFFFF"/>
                </a:solidFill>
                <a:latin typeface="Calibri"/>
              </a:rPr>
              <a:t>Achievability τ = T_lower / T_Orion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0" strike="noStrike" spc="-1">
                <a:solidFill>
                  <a:srgbClr val="FFFFFF"/>
                </a:solidFill>
                <a:latin typeface="Calibri"/>
              </a:rPr>
              <a:t>at regime boundaries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4" name="TextBox 9"/>
          <p:cNvSpPr/>
          <p:nvPr/>
        </p:nvSpPr>
        <p:spPr>
          <a:xfrm>
            <a:off x="365760" y="1874520"/>
            <a:ext cx="2742840" cy="57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3200" b="1" strike="noStrike" spc="-1">
                <a:solidFill>
                  <a:srgbClr val="FFFFFF"/>
                </a:solidFill>
                <a:latin typeface="Calibri"/>
              </a:rPr>
              <a:t>86–92%</a:t>
            </a:r>
            <a:endParaRPr lang="en-US" sz="32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5" name="Rectangle 10"/>
          <p:cNvSpPr/>
          <p:nvPr/>
        </p:nvSpPr>
        <p:spPr>
          <a:xfrm>
            <a:off x="3291840" y="1371600"/>
            <a:ext cx="2742840" cy="1645560"/>
          </a:xfrm>
          <a:prstGeom prst="rect">
            <a:avLst/>
          </a:prstGeom>
          <a:solidFill>
            <a:srgbClr val="ED7D3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6" name="TextBox 11"/>
          <p:cNvSpPr/>
          <p:nvPr/>
        </p:nvSpPr>
        <p:spPr>
          <a:xfrm>
            <a:off x="3291840" y="1463040"/>
            <a:ext cx="2742840" cy="48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300" b="0" strike="noStrike" spc="-1">
                <a:solidFill>
                  <a:srgbClr val="FFFFFF"/>
                </a:solidFill>
                <a:latin typeface="Calibri"/>
              </a:rPr>
              <a:t>Residual gap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0" strike="noStrike" spc="-1">
                <a:solidFill>
                  <a:srgbClr val="FFFFFF"/>
                </a:solidFill>
                <a:latin typeface="Calibri"/>
              </a:rPr>
              <a:t>≈ irreducible T_sync floor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7" name="TextBox 12"/>
          <p:cNvSpPr/>
          <p:nvPr/>
        </p:nvSpPr>
        <p:spPr>
          <a:xfrm>
            <a:off x="3291840" y="1874520"/>
            <a:ext cx="2742840" cy="57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3200" b="1" strike="noStrike" spc="-1">
                <a:solidFill>
                  <a:srgbClr val="FFFFFF"/>
                </a:solidFill>
                <a:latin typeface="Calibri"/>
              </a:rPr>
              <a:t>8–14%</a:t>
            </a:r>
            <a:endParaRPr lang="en-US" sz="32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8" name="Rectangle 13"/>
          <p:cNvSpPr/>
          <p:nvPr/>
        </p:nvSpPr>
        <p:spPr>
          <a:xfrm>
            <a:off x="6217920" y="1371600"/>
            <a:ext cx="2742840" cy="1645560"/>
          </a:xfrm>
          <a:prstGeom prst="rect">
            <a:avLst/>
          </a:prstGeom>
          <a:solidFill>
            <a:srgbClr val="37864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9" name="TextBox 14"/>
          <p:cNvSpPr/>
          <p:nvPr/>
        </p:nvSpPr>
        <p:spPr>
          <a:xfrm>
            <a:off x="6217920" y="1463040"/>
            <a:ext cx="2742840" cy="48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300" b="0" strike="noStrike" spc="-1">
                <a:solidFill>
                  <a:srgbClr val="FFFFFF"/>
                </a:solidFill>
                <a:latin typeface="Calibri"/>
              </a:rPr>
              <a:t>Boundary consistency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0" strike="noStrike" spc="-1">
                <a:solidFill>
                  <a:srgbClr val="FFFFFF"/>
                </a:solidFill>
                <a:latin typeface="Calibri"/>
              </a:rPr>
              <a:t>across 5 hardware platforms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0" name="TextBox 15"/>
          <p:cNvSpPr/>
          <p:nvPr/>
        </p:nvSpPr>
        <p:spPr>
          <a:xfrm>
            <a:off x="6217920" y="1874520"/>
            <a:ext cx="2742840" cy="57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3200" b="1" strike="noStrike" spc="-1">
                <a:solidFill>
                  <a:srgbClr val="FFFFFF"/>
                </a:solidFill>
                <a:latin typeface="Calibri"/>
              </a:rPr>
              <a:t>±0.05</a:t>
            </a:r>
            <a:endParaRPr lang="en-US" sz="32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1" name="Rectangle 16"/>
          <p:cNvSpPr/>
          <p:nvPr/>
        </p:nvSpPr>
        <p:spPr>
          <a:xfrm>
            <a:off x="9144000" y="1371600"/>
            <a:ext cx="2742840" cy="164556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2" name="TextBox 17"/>
          <p:cNvSpPr/>
          <p:nvPr/>
        </p:nvSpPr>
        <p:spPr>
          <a:xfrm>
            <a:off x="9144000" y="1463040"/>
            <a:ext cx="2742840" cy="48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300" b="0" strike="noStrike" spc="-1">
                <a:solidFill>
                  <a:srgbClr val="FFFFFF"/>
                </a:solidFill>
                <a:latin typeface="Calibri"/>
              </a:rPr>
              <a:t>Sharpness S at θᴄ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0" strike="noStrike" spc="-1">
                <a:solidFill>
                  <a:srgbClr val="FFFFFF"/>
                </a:solidFill>
                <a:latin typeface="Calibri"/>
              </a:rPr>
              <a:t>(S* = 2.0 → abrupt transition)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3" name="TextBox 18"/>
          <p:cNvSpPr/>
          <p:nvPr/>
        </p:nvSpPr>
        <p:spPr>
          <a:xfrm>
            <a:off x="9144000" y="1874520"/>
            <a:ext cx="2742840" cy="57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3200" b="1" strike="noStrike" spc="-1">
                <a:solidFill>
                  <a:srgbClr val="FFFFFF"/>
                </a:solidFill>
                <a:latin typeface="Calibri"/>
              </a:rPr>
              <a:t>4.12</a:t>
            </a:r>
            <a:endParaRPr lang="en-US" sz="32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4" name="TextBox 19"/>
          <p:cNvSpPr/>
          <p:nvPr/>
        </p:nvSpPr>
        <p:spPr>
          <a:xfrm>
            <a:off x="365760" y="3246120"/>
            <a:ext cx="11429640" cy="158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700" b="0" strike="noStrike" spc="-1">
                <a:solidFill>
                  <a:srgbClr val="404040"/>
                </a:solidFill>
                <a:latin typeface="Calibri"/>
              </a:rPr>
              <a:t>  • Platform coverage: A100 80GB · TPU v4 · AWS Inferentia2 · AMD MI250 · Intel Optane-PMem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700" b="0" strike="noStrike" spc="-1">
                <a:solidFill>
                  <a:srgbClr val="404040"/>
                </a:solidFill>
                <a:latin typeface="Calibri"/>
              </a:rPr>
              <a:t>  • Boundary identified when dominant latency term changes by &gt; 1 s.d. across 5 sweeps × 30 windows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700" b="0" strike="noStrike" spc="-1">
                <a:solidFill>
                  <a:srgbClr val="404040"/>
                </a:solidFill>
                <a:latin typeface="Calibri"/>
              </a:rPr>
              <a:t>  • Wilcoxon signed-rank test: near-boundary S &gt; S* = 2.0 at p &lt; 0.05; interior p &gt; 0.40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700" b="0" strike="noStrike" spc="-1">
                <a:solidFill>
                  <a:srgbClr val="404040"/>
                </a:solidFill>
                <a:latin typeface="Calibri"/>
              </a:rPr>
              <a:t>  • T_sync measured directly via cudaStreamSynchronize + ncclAllReduce CUPTI wrappers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700" b="0" strike="noStrike" spc="-1">
                <a:solidFill>
                  <a:srgbClr val="404040"/>
                </a:solidFill>
                <a:latin typeface="Calibri"/>
              </a:rPr>
              <a:t>  • 4-term sum agrees with wall-clock within ≤ 3% (mean 1.8%, s.d. 0.6%)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Rectangle 1"/>
          <p:cNvSpPr/>
          <p:nvPr/>
        </p:nvSpPr>
        <p:spPr>
          <a:xfrm>
            <a:off x="0" y="0"/>
            <a:ext cx="12188520" cy="10054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6" name="TextBox 2"/>
          <p:cNvSpPr/>
          <p:nvPr/>
        </p:nvSpPr>
        <p:spPr>
          <a:xfrm>
            <a:off x="22860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strike="noStrike" spc="-1">
                <a:solidFill>
                  <a:srgbClr val="FFFFFF"/>
                </a:solidFill>
                <a:latin typeface="Calibri"/>
              </a:rPr>
              <a:t>Practical Prescriptions by Regime</a:t>
            </a:r>
            <a:endParaRPr lang="en-US" sz="2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7" name="TextBox 3"/>
          <p:cNvSpPr/>
          <p:nvPr/>
        </p:nvSpPr>
        <p:spPr>
          <a:xfrm>
            <a:off x="228600" y="658440"/>
            <a:ext cx="91436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BDD7EE"/>
                </a:solidFill>
                <a:latin typeface="Calibri"/>
              </a:rPr>
              <a:t>Immediately actionable from two ratios — no exhaustive sweep needed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8" name="Rectangle 4"/>
          <p:cNvSpPr/>
          <p:nvPr/>
        </p:nvSpPr>
        <p:spPr>
          <a:xfrm>
            <a:off x="0" y="6537960"/>
            <a:ext cx="12188520" cy="3196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9" name="TextBox 5"/>
          <p:cNvSpPr/>
          <p:nvPr/>
        </p:nvSpPr>
        <p:spPr>
          <a:xfrm>
            <a:off x="182880" y="6556320"/>
            <a:ext cx="91436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ORION Project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0" name="TextBox 6"/>
          <p:cNvSpPr/>
          <p:nvPr/>
        </p:nvSpPr>
        <p:spPr>
          <a:xfrm>
            <a:off x="11640240" y="655632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10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1" name="Rectangle 7"/>
          <p:cNvSpPr/>
          <p:nvPr/>
        </p:nvSpPr>
        <p:spPr>
          <a:xfrm>
            <a:off x="274320" y="1143000"/>
            <a:ext cx="3794400" cy="5028840"/>
          </a:xfrm>
          <a:prstGeom prst="rect">
            <a:avLst/>
          </a:prstGeom>
          <a:solidFill>
            <a:srgbClr val="F2F2F2"/>
          </a:solidFill>
          <a:ln w="25400">
            <a:solidFill>
              <a:srgbClr val="ED7D31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2" name="Rectangle 8"/>
          <p:cNvSpPr/>
          <p:nvPr/>
        </p:nvSpPr>
        <p:spPr>
          <a:xfrm>
            <a:off x="274320" y="1143000"/>
            <a:ext cx="3794400" cy="502560"/>
          </a:xfrm>
          <a:prstGeom prst="rect">
            <a:avLst/>
          </a:prstGeom>
          <a:solidFill>
            <a:srgbClr val="ED7D3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3" name="TextBox 9"/>
          <p:cNvSpPr/>
          <p:nvPr/>
        </p:nvSpPr>
        <p:spPr>
          <a:xfrm>
            <a:off x="365760" y="1161360"/>
            <a:ext cx="3611520" cy="2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strike="noStrike" spc="-1">
                <a:solidFill>
                  <a:srgbClr val="FFFFFF"/>
                </a:solidFill>
                <a:latin typeface="Calibri"/>
              </a:rPr>
              <a:t>① Capacity-Limited  (Rᴄ &lt; 0.50)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4" name="TextBox 10"/>
          <p:cNvSpPr/>
          <p:nvPr/>
        </p:nvSpPr>
        <p:spPr>
          <a:xfrm>
            <a:off x="365760" y="1691640"/>
            <a:ext cx="3611520" cy="20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↑ Increase HBM capacity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↓ Reduce batch size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↓ Apply weight quantisation (shrinks W)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✗ Avoid adding coordination overhead (≤ 5% return)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θᴄ = 0.50 (hardware-independent, error ≤ 2.4%)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5" name="Rectangle 11"/>
          <p:cNvSpPr/>
          <p:nvPr/>
        </p:nvSpPr>
        <p:spPr>
          <a:xfrm>
            <a:off x="4251960" y="1143000"/>
            <a:ext cx="3794400" cy="5028840"/>
          </a:xfrm>
          <a:prstGeom prst="rect">
            <a:avLst/>
          </a:prstGeom>
          <a:solidFill>
            <a:srgbClr val="F2F2F2"/>
          </a:solidFill>
          <a:ln w="25400">
            <a:solidFill>
              <a:srgbClr val="37864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6" name="Rectangle 12"/>
          <p:cNvSpPr/>
          <p:nvPr/>
        </p:nvSpPr>
        <p:spPr>
          <a:xfrm>
            <a:off x="4251960" y="1143000"/>
            <a:ext cx="3794400" cy="502560"/>
          </a:xfrm>
          <a:prstGeom prst="rect">
            <a:avLst/>
          </a:prstGeom>
          <a:solidFill>
            <a:srgbClr val="37864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7" name="TextBox 13"/>
          <p:cNvSpPr/>
          <p:nvPr/>
        </p:nvSpPr>
        <p:spPr>
          <a:xfrm>
            <a:off x="4343400" y="1161360"/>
            <a:ext cx="3611520" cy="48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strike="noStrike" spc="-1">
                <a:solidFill>
                  <a:srgbClr val="FFFFFF"/>
                </a:solidFill>
                <a:latin typeface="Calibri"/>
              </a:rPr>
              <a:t>② Coordination-Dominated  (Rᴄ ≥ 0.50, Rʙ ≥ 0.40)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8" name="TextBox 14"/>
          <p:cNvSpPr/>
          <p:nvPr/>
        </p:nvSpPr>
        <p:spPr>
          <a:xfrm>
            <a:off x="4343400" y="1691640"/>
            <a:ext cx="3611520" cy="157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↑ Pipelining + KV-cache management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↑ Cross-tier overlap (compute ‖ DMA)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↑ Lazy synchronisation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18–27% latency reduction achievable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This is the design target of FlexGen / vLLM / Orion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9" name="Rectangle 15"/>
          <p:cNvSpPr/>
          <p:nvPr/>
        </p:nvSpPr>
        <p:spPr>
          <a:xfrm>
            <a:off x="8229600" y="1143000"/>
            <a:ext cx="3794400" cy="5028840"/>
          </a:xfrm>
          <a:prstGeom prst="rect">
            <a:avLst/>
          </a:prstGeom>
          <a:solidFill>
            <a:srgbClr val="F2F2F2"/>
          </a:solidFill>
          <a:ln w="25400">
            <a:solidFill>
              <a:srgbClr val="C00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0" name="Rectangle 16"/>
          <p:cNvSpPr/>
          <p:nvPr/>
        </p:nvSpPr>
        <p:spPr>
          <a:xfrm>
            <a:off x="8229600" y="1143000"/>
            <a:ext cx="3794400" cy="502560"/>
          </a:xfrm>
          <a:prstGeom prst="rect">
            <a:avLst/>
          </a:prstGeom>
          <a:solidFill>
            <a:srgbClr val="C00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1" name="TextBox 17"/>
          <p:cNvSpPr/>
          <p:nvPr/>
        </p:nvSpPr>
        <p:spPr>
          <a:xfrm>
            <a:off x="8321040" y="1161360"/>
            <a:ext cx="3611520" cy="2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strike="noStrike" spc="-1">
                <a:solidFill>
                  <a:srgbClr val="FFFFFF"/>
                </a:solidFill>
                <a:latin typeface="Calibri"/>
              </a:rPr>
              <a:t>③ I/O-Limited  (Rʙ &lt; 0.40)</a:t>
            </a:r>
            <a:endParaRPr lang="en-US" sz="13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2" name="TextBox 18"/>
          <p:cNvSpPr/>
          <p:nvPr/>
        </p:nvSpPr>
        <p:spPr>
          <a:xfrm>
            <a:off x="8321040" y="1691640"/>
            <a:ext cx="3611520" cy="20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↓ Reduce transfer volume D (not add scheduling)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↓ Smaller swap granularity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↓ Selective layer offloading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✗ Aggressive offloading WORSENS by 8–12%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  θʙ = R_B_sat × (1 + α_wb + α_q)  (error ≤ 4.7% on PCIe)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Rectangle 1"/>
          <p:cNvSpPr/>
          <p:nvPr/>
        </p:nvSpPr>
        <p:spPr>
          <a:xfrm>
            <a:off x="0" y="0"/>
            <a:ext cx="12188520" cy="10054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4" name="TextBox 2"/>
          <p:cNvSpPr/>
          <p:nvPr/>
        </p:nvSpPr>
        <p:spPr>
          <a:xfrm>
            <a:off x="22860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strike="noStrike" spc="-1">
                <a:solidFill>
                  <a:srgbClr val="FFFFFF"/>
                </a:solidFill>
                <a:latin typeface="Calibri"/>
              </a:rPr>
              <a:t>Limitations &amp; Future Work</a:t>
            </a:r>
            <a:endParaRPr lang="en-US" sz="2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5" name="TextBox 3"/>
          <p:cNvSpPr/>
          <p:nvPr/>
        </p:nvSpPr>
        <p:spPr>
          <a:xfrm>
            <a:off x="228600" y="658440"/>
            <a:ext cx="91436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0" strike="noStrike" spc="-1">
                <a:solidFill>
                  <a:srgbClr val="BDD7EE"/>
                </a:solidFill>
                <a:latin typeface="Calibri"/>
              </a:rPr>
              <a:t>Known constraints and open problems</a:t>
            </a:r>
            <a:endParaRPr lang="en-US" sz="1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6" name="Rectangle 4"/>
          <p:cNvSpPr/>
          <p:nvPr/>
        </p:nvSpPr>
        <p:spPr>
          <a:xfrm>
            <a:off x="0" y="6537960"/>
            <a:ext cx="12188520" cy="31968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7" name="TextBox 5"/>
          <p:cNvSpPr/>
          <p:nvPr/>
        </p:nvSpPr>
        <p:spPr>
          <a:xfrm>
            <a:off x="182880" y="6556320"/>
            <a:ext cx="91436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ORION Project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8" name="TextBox 6"/>
          <p:cNvSpPr/>
          <p:nvPr/>
        </p:nvSpPr>
        <p:spPr>
          <a:xfrm>
            <a:off x="11640240" y="655632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strike="noStrike" spc="-1">
                <a:solidFill>
                  <a:srgbClr val="FFFFFF"/>
                </a:solidFill>
                <a:latin typeface="Calibri"/>
              </a:rPr>
              <a:t>11</a:t>
            </a:r>
            <a:endParaRPr lang="en-US" sz="11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9" name="TextBox 7"/>
          <p:cNvSpPr/>
          <p:nvPr/>
        </p:nvSpPr>
        <p:spPr>
          <a:xfrm>
            <a:off x="365760" y="1188720"/>
            <a:ext cx="11429640" cy="23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  • Classifier accuracy (93.4%) is in-distribution — generalisation to novel hardware not yet characterised</a:t>
            </a: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  • Multi-node clusters: 4-node experiments show ΔθB ≈ +0.05; full characterisation open</a:t>
            </a: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  • MoE models: W_eff = W_param × (k/N_exp) + W_act + W_kv shifts Rᴄ; per-model classification needed</a:t>
            </a: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  • Speculative decoding: draft + target models may occupy different regimes simultaneously</a:t>
            </a: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  • Hysteresis (regime memory) observed across boundary crossings — theoretical characterisation open</a:t>
            </a: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  • T_sync lower bound T_sync_min = K · c_o not yet analytically derived (future work C1)</a:t>
            </a: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  • θᴄ prediction error ≤ 2.4%; θʙ ≤ 4.7% on PCIe; larger for proprietary links (Inferentia2: ~12.4%)</a:t>
            </a:r>
            <a:endParaRPr lang="en-US" sz="18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0" name="Rectangle 8"/>
          <p:cNvSpPr/>
          <p:nvPr/>
        </p:nvSpPr>
        <p:spPr>
          <a:xfrm>
            <a:off x="365760" y="5394960"/>
            <a:ext cx="11429640" cy="1142640"/>
          </a:xfrm>
          <a:prstGeom prst="rect">
            <a:avLst/>
          </a:prstGeom>
          <a:solidFill>
            <a:srgbClr val="E2EFD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1" name="TextBox 9"/>
          <p:cNvSpPr/>
          <p:nvPr/>
        </p:nvSpPr>
        <p:spPr>
          <a:xfrm>
            <a:off x="548640" y="5440680"/>
            <a:ext cx="10972440" cy="3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1" strike="noStrike" spc="-1">
                <a:solidFill>
                  <a:srgbClr val="378644"/>
                </a:solidFill>
                <a:latin typeface="Calibri"/>
              </a:rPr>
              <a:t>Key insight — technology evolution does not remove regimes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2" name="TextBox 10"/>
          <p:cNvSpPr/>
          <p:nvPr/>
        </p:nvSpPr>
        <p:spPr>
          <a:xfrm>
            <a:off x="548640" y="5760720"/>
            <a:ext cx="109724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HBM expansion, CXL pooling, disaggregated memory shift boundaries but do not eliminate phase structure.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Once transfer demand approaches sustained bandwidth ceiling, dominant latency term changes regardless of absolute values.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56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4" name="Rectangle 2"/>
          <p:cNvSpPr/>
          <p:nvPr/>
        </p:nvSpPr>
        <p:spPr>
          <a:xfrm>
            <a:off x="0" y="5486400"/>
            <a:ext cx="12188520" cy="137124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5" name="TextBox 3"/>
          <p:cNvSpPr/>
          <p:nvPr/>
        </p:nvSpPr>
        <p:spPr>
          <a:xfrm>
            <a:off x="548640" y="274320"/>
            <a:ext cx="109724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600" b="1" strike="noStrike" spc="-1">
                <a:solidFill>
                  <a:srgbClr val="FFFFFF"/>
                </a:solidFill>
                <a:latin typeface="Calibri"/>
              </a:rPr>
              <a:t>Summary</a:t>
            </a:r>
            <a:endParaRPr lang="en-US" sz="36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6" name="Rectangle 4"/>
          <p:cNvSpPr/>
          <p:nvPr/>
        </p:nvSpPr>
        <p:spPr>
          <a:xfrm>
            <a:off x="457200" y="1097280"/>
            <a:ext cx="5486040" cy="1554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7" name="Rectangle 5"/>
          <p:cNvSpPr/>
          <p:nvPr/>
        </p:nvSpPr>
        <p:spPr>
          <a:xfrm>
            <a:off x="457200" y="1097280"/>
            <a:ext cx="109440" cy="1554120"/>
          </a:xfrm>
          <a:prstGeom prst="rect">
            <a:avLst/>
          </a:prstGeom>
          <a:solidFill>
            <a:srgbClr val="ED7D3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8" name="TextBox 6"/>
          <p:cNvSpPr/>
          <p:nvPr/>
        </p:nvSpPr>
        <p:spPr>
          <a:xfrm>
            <a:off x="685800" y="1188720"/>
            <a:ext cx="5120280" cy="34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1" strike="noStrike" spc="-1">
                <a:solidFill>
                  <a:srgbClr val="1A356E"/>
                </a:solidFill>
                <a:latin typeface="Calibri"/>
              </a:rPr>
              <a:t>Three intrinsic regimes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9" name="TextBox 7"/>
          <p:cNvSpPr/>
          <p:nvPr/>
        </p:nvSpPr>
        <p:spPr>
          <a:xfrm>
            <a:off x="685800" y="1554480"/>
            <a:ext cx="512028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Capacity-limited / Coordination-dominated / I/O-limited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— separated by abrupt, phase-like transitions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0" name="Rectangle 8"/>
          <p:cNvSpPr/>
          <p:nvPr/>
        </p:nvSpPr>
        <p:spPr>
          <a:xfrm>
            <a:off x="457200" y="2926080"/>
            <a:ext cx="5486040" cy="1554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1" name="Rectangle 9"/>
          <p:cNvSpPr/>
          <p:nvPr/>
        </p:nvSpPr>
        <p:spPr>
          <a:xfrm>
            <a:off x="457200" y="2926080"/>
            <a:ext cx="109440" cy="1554120"/>
          </a:xfrm>
          <a:prstGeom prst="rect">
            <a:avLst/>
          </a:prstGeom>
          <a:solidFill>
            <a:srgbClr val="ED7D3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2" name="TextBox 10"/>
          <p:cNvSpPr/>
          <p:nvPr/>
        </p:nvSpPr>
        <p:spPr>
          <a:xfrm>
            <a:off x="685800" y="3017520"/>
            <a:ext cx="5120280" cy="34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1" strike="noStrike" spc="-1">
                <a:solidFill>
                  <a:srgbClr val="1A356E"/>
                </a:solidFill>
                <a:latin typeface="Calibri"/>
              </a:rPr>
              <a:t>Two computable ratios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3" name="TextBox 11"/>
          <p:cNvSpPr/>
          <p:nvPr/>
        </p:nvSpPr>
        <p:spPr>
          <a:xfrm>
            <a:off x="685800" y="3383280"/>
            <a:ext cx="512028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Rᴄ = Cfast/W  and  Rʙ = Bslow·Δt/D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— derivable from datasheets before any experiment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4" name="Rectangle 12"/>
          <p:cNvSpPr/>
          <p:nvPr/>
        </p:nvSpPr>
        <p:spPr>
          <a:xfrm>
            <a:off x="6217920" y="1097280"/>
            <a:ext cx="5486040" cy="1554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5" name="Rectangle 13"/>
          <p:cNvSpPr/>
          <p:nvPr/>
        </p:nvSpPr>
        <p:spPr>
          <a:xfrm>
            <a:off x="6217920" y="1097280"/>
            <a:ext cx="109440" cy="1554120"/>
          </a:xfrm>
          <a:prstGeom prst="rect">
            <a:avLst/>
          </a:prstGeom>
          <a:solidFill>
            <a:srgbClr val="ED7D3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6" name="TextBox 14"/>
          <p:cNvSpPr/>
          <p:nvPr/>
        </p:nvSpPr>
        <p:spPr>
          <a:xfrm>
            <a:off x="6446520" y="1188720"/>
            <a:ext cx="5120280" cy="34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1" strike="noStrike" spc="-1">
                <a:solidFill>
                  <a:srgbClr val="1A356E"/>
                </a:solidFill>
                <a:latin typeface="Calibri"/>
              </a:rPr>
              <a:t>Rankings invert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7" name="TextBox 15"/>
          <p:cNvSpPr/>
          <p:nvPr/>
        </p:nvSpPr>
        <p:spPr>
          <a:xfrm>
            <a:off x="6446520" y="1554480"/>
            <a:ext cx="512028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FlexGen −24% → +8–12% across boundaries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— regime-agnostic design is structurally unsound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8" name="Rectangle 16"/>
          <p:cNvSpPr/>
          <p:nvPr/>
        </p:nvSpPr>
        <p:spPr>
          <a:xfrm>
            <a:off x="6217920" y="2926080"/>
            <a:ext cx="5486040" cy="1554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9" name="Rectangle 17"/>
          <p:cNvSpPr/>
          <p:nvPr/>
        </p:nvSpPr>
        <p:spPr>
          <a:xfrm>
            <a:off x="6217920" y="2926080"/>
            <a:ext cx="109440" cy="1554120"/>
          </a:xfrm>
          <a:prstGeom prst="rect">
            <a:avLst/>
          </a:prstGeom>
          <a:solidFill>
            <a:srgbClr val="ED7D3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0" name="TextBox 18"/>
          <p:cNvSpPr/>
          <p:nvPr/>
        </p:nvSpPr>
        <p:spPr>
          <a:xfrm>
            <a:off x="6446520" y="3017520"/>
            <a:ext cx="5120280" cy="34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1" strike="noStrike" spc="-1">
                <a:solidFill>
                  <a:srgbClr val="1A356E"/>
                </a:solidFill>
                <a:latin typeface="Calibri"/>
              </a:rPr>
              <a:t>Orion reaches 86–92%</a:t>
            </a:r>
            <a:endParaRPr lang="en-US" sz="17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1" name="TextBox 19"/>
          <p:cNvSpPr/>
          <p:nvPr/>
        </p:nvSpPr>
        <p:spPr>
          <a:xfrm>
            <a:off x="6446520" y="3383280"/>
            <a:ext cx="512028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of structural lower bound across 5 platforms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— residual 8–14% is irreducible T_sync physics</a:t>
            </a:r>
            <a:endParaRPr lang="en-US" sz="1400" b="0" strike="noStrike" spc="-1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2" name="TextBox 20"/>
          <p:cNvSpPr/>
          <p:nvPr/>
        </p:nvSpPr>
        <p:spPr>
          <a:xfrm>
            <a:off x="365760" y="5623560"/>
            <a:ext cx="11429640" cy="54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1500" b="1" strike="noStrike" spc="-1">
                <a:solidFill>
                  <a:srgbClr val="FFFFFF"/>
                </a:solidFill>
                <a:latin typeface="Calibri"/>
              </a:rPr>
              <a:t>"The first question for any memory-bound inference system should be not 'how much more coordination?'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500" b="1" strike="noStrike" spc="-1">
                <a:solidFill>
                  <a:srgbClr val="FFFFFF"/>
                </a:solidFill>
                <a:latin typeface="Calibri"/>
              </a:rPr>
              <a:t>but 'in which regime does the system operate?'"</a:t>
            </a:r>
            <a:endParaRPr lang="en-US" sz="1500" b="0" strike="noStrike" spc="-1">
              <a:solidFill>
                <a:srgbClr val="000000"/>
              </a:solidFill>
              <a:latin typeface="Noto Sans CJK K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Words>1703</Words>
  <Application>Microsoft Office PowerPoint</Application>
  <PresentationFormat>사용자 지정</PresentationFormat>
  <Paragraphs>253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11</vt:i4>
      </vt:variant>
      <vt:variant>
        <vt:lpstr>슬라이드 제목</vt:lpstr>
      </vt:variant>
      <vt:variant>
        <vt:i4>12</vt:i4>
      </vt:variant>
    </vt:vector>
  </HeadingPairs>
  <TitlesOfParts>
    <vt:vector size="29" baseType="lpstr">
      <vt:lpstr>Noto Sans CJK KR</vt:lpstr>
      <vt:lpstr>Noto Serif CJK KR</vt:lpstr>
      <vt:lpstr>Arial</vt:lpstr>
      <vt:lpstr>Calibri</vt:lpstr>
      <vt:lpstr>Symbol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dc:description>generated using python-pptx</dc:description>
  <cp:lastModifiedBy>eemgs l</cp:lastModifiedBy>
  <cp:revision>3</cp:revision>
  <dcterms:created xsi:type="dcterms:W3CDTF">2013-01-27T09:14:16Z</dcterms:created>
  <dcterms:modified xsi:type="dcterms:W3CDTF">2026-06-29T00:54:22Z</dcterms:modified>
  <dc:language>ko-KR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